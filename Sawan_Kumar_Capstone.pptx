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entury Gothic Paneuropean Bold" charset="1" panose="020B0702020202020204"/>
      <p:regular r:id="rId23"/>
    </p:embeddedFont>
    <p:embeddedFont>
      <p:font typeface="Century Gothic Paneuropean" charset="1" panose="020B0502020202020204"/>
      <p:regular r:id="rId24"/>
    </p:embeddedFont>
    <p:embeddedFont>
      <p:font typeface="Open Sans" charset="1" panose="020B0606030504020204"/>
      <p:regular r:id="rId25"/>
    </p:embeddedFont>
    <p:embeddedFont>
      <p:font typeface="Open Sans Bold" charset="1" panose="020B0806030504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890852" y="70385"/>
            <a:ext cx="5828091" cy="2207389"/>
          </a:xfrm>
          <a:custGeom>
            <a:avLst/>
            <a:gdLst/>
            <a:ahLst/>
            <a:cxnLst/>
            <a:rect r="r" b="b" t="t" l="l"/>
            <a:pathLst>
              <a:path h="2207389" w="5828091">
                <a:moveTo>
                  <a:pt x="0" y="0"/>
                </a:moveTo>
                <a:lnTo>
                  <a:pt x="5828091" y="0"/>
                </a:lnTo>
                <a:lnTo>
                  <a:pt x="5828091" y="2207389"/>
                </a:lnTo>
                <a:lnTo>
                  <a:pt x="0" y="2207389"/>
                </a:lnTo>
                <a:lnTo>
                  <a:pt x="0" y="0"/>
                </a:lnTo>
                <a:close/>
              </a:path>
            </a:pathLst>
          </a:custGeom>
          <a:blipFill>
            <a:blip r:embed="rId4"/>
            <a:stretch>
              <a:fillRect l="0" t="0" r="0" b="0"/>
            </a:stretch>
          </a:blipFill>
        </p:spPr>
      </p:sp>
      <p:sp>
        <p:nvSpPr>
          <p:cNvPr name="TextBox 14" id="14"/>
          <p:cNvSpPr txBox="true"/>
          <p:nvPr/>
        </p:nvSpPr>
        <p:spPr>
          <a:xfrm rot="0">
            <a:off x="2634754" y="3297377"/>
            <a:ext cx="13018493" cy="2127966"/>
          </a:xfrm>
          <a:prstGeom prst="rect">
            <a:avLst/>
          </a:prstGeom>
        </p:spPr>
        <p:txBody>
          <a:bodyPr anchor="t" rtlCol="false" tIns="0" lIns="0" bIns="0" rIns="0">
            <a:spAutoFit/>
          </a:bodyPr>
          <a:lstStyle/>
          <a:p>
            <a:pPr algn="ctr">
              <a:lnSpc>
                <a:spcPts val="17489"/>
              </a:lnSpc>
            </a:pPr>
            <a:r>
              <a:rPr lang="en-US" b="true" sz="12492">
                <a:solidFill>
                  <a:srgbClr val="000000"/>
                </a:solidFill>
                <a:latin typeface="Century Gothic Paneuropean Bold"/>
                <a:ea typeface="Century Gothic Paneuropean Bold"/>
                <a:cs typeface="Century Gothic Paneuropean Bold"/>
                <a:sym typeface="Century Gothic Paneuropean Bold"/>
              </a:rPr>
              <a:t>PRESENTATION</a:t>
            </a:r>
          </a:p>
        </p:txBody>
      </p:sp>
      <p:sp>
        <p:nvSpPr>
          <p:cNvPr name="TextBox 15" id="15"/>
          <p:cNvSpPr txBox="true"/>
          <p:nvPr/>
        </p:nvSpPr>
        <p:spPr>
          <a:xfrm rot="0">
            <a:off x="4882925" y="5559892"/>
            <a:ext cx="8522150" cy="1058648"/>
          </a:xfrm>
          <a:prstGeom prst="rect">
            <a:avLst/>
          </a:prstGeom>
        </p:spPr>
        <p:txBody>
          <a:bodyPr anchor="t" rtlCol="false" tIns="0" lIns="0" bIns="0" rIns="0">
            <a:spAutoFit/>
          </a:bodyPr>
          <a:lstStyle/>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By Sawan Kumar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2583433" y="4441325"/>
            <a:ext cx="3444269" cy="3173742"/>
          </a:xfrm>
          <a:custGeom>
            <a:avLst/>
            <a:gdLst/>
            <a:ahLst/>
            <a:cxnLst/>
            <a:rect r="r" b="b" t="t" l="l"/>
            <a:pathLst>
              <a:path h="3173742" w="3444269">
                <a:moveTo>
                  <a:pt x="0" y="0"/>
                </a:moveTo>
                <a:lnTo>
                  <a:pt x="3444269" y="0"/>
                </a:lnTo>
                <a:lnTo>
                  <a:pt x="3444269" y="3173742"/>
                </a:lnTo>
                <a:lnTo>
                  <a:pt x="0" y="3173742"/>
                </a:lnTo>
                <a:lnTo>
                  <a:pt x="0" y="0"/>
                </a:lnTo>
                <a:close/>
              </a:path>
            </a:pathLst>
          </a:custGeom>
          <a:blipFill>
            <a:blip r:embed="rId4"/>
            <a:stretch>
              <a:fillRect l="0" t="0" r="0" b="0"/>
            </a:stretch>
          </a:blipFill>
        </p:spPr>
      </p:sp>
      <p:sp>
        <p:nvSpPr>
          <p:cNvPr name="Freeform 14" id="14"/>
          <p:cNvSpPr/>
          <p:nvPr/>
        </p:nvSpPr>
        <p:spPr>
          <a:xfrm flipH="false" flipV="false" rot="0">
            <a:off x="7580277" y="4334822"/>
            <a:ext cx="3130276" cy="3386748"/>
          </a:xfrm>
          <a:custGeom>
            <a:avLst/>
            <a:gdLst/>
            <a:ahLst/>
            <a:cxnLst/>
            <a:rect r="r" b="b" t="t" l="l"/>
            <a:pathLst>
              <a:path h="3386748" w="3130276">
                <a:moveTo>
                  <a:pt x="0" y="0"/>
                </a:moveTo>
                <a:lnTo>
                  <a:pt x="3130276" y="0"/>
                </a:lnTo>
                <a:lnTo>
                  <a:pt x="3130276" y="3386748"/>
                </a:lnTo>
                <a:lnTo>
                  <a:pt x="0" y="3386748"/>
                </a:lnTo>
                <a:lnTo>
                  <a:pt x="0" y="0"/>
                </a:lnTo>
                <a:close/>
              </a:path>
            </a:pathLst>
          </a:custGeom>
          <a:blipFill>
            <a:blip r:embed="rId5"/>
            <a:stretch>
              <a:fillRect l="0" t="0" r="0" b="0"/>
            </a:stretch>
          </a:blipFill>
        </p:spPr>
      </p:sp>
      <p:sp>
        <p:nvSpPr>
          <p:cNvPr name="Freeform 15" id="15"/>
          <p:cNvSpPr/>
          <p:nvPr/>
        </p:nvSpPr>
        <p:spPr>
          <a:xfrm flipH="false" flipV="false" rot="0">
            <a:off x="12089081" y="4334822"/>
            <a:ext cx="4629861" cy="3386748"/>
          </a:xfrm>
          <a:custGeom>
            <a:avLst/>
            <a:gdLst/>
            <a:ahLst/>
            <a:cxnLst/>
            <a:rect r="r" b="b" t="t" l="l"/>
            <a:pathLst>
              <a:path h="3386748" w="4629861">
                <a:moveTo>
                  <a:pt x="0" y="0"/>
                </a:moveTo>
                <a:lnTo>
                  <a:pt x="4629862" y="0"/>
                </a:lnTo>
                <a:lnTo>
                  <a:pt x="4629862" y="3386748"/>
                </a:lnTo>
                <a:lnTo>
                  <a:pt x="0" y="3386748"/>
                </a:lnTo>
                <a:lnTo>
                  <a:pt x="0" y="0"/>
                </a:lnTo>
                <a:close/>
              </a:path>
            </a:pathLst>
          </a:custGeom>
          <a:blipFill>
            <a:blip r:embed="rId6"/>
            <a:stretch>
              <a:fillRect l="0" t="0" r="0" b="0"/>
            </a:stretch>
          </a:blipFill>
        </p:spPr>
      </p:sp>
      <p:sp>
        <p:nvSpPr>
          <p:cNvPr name="TextBox 16" id="16"/>
          <p:cNvSpPr txBox="true"/>
          <p:nvPr/>
        </p:nvSpPr>
        <p:spPr>
          <a:xfrm rot="0">
            <a:off x="3877409" y="1194757"/>
            <a:ext cx="10007891" cy="1392115"/>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C</a:t>
            </a:r>
            <a:r>
              <a:rPr lang="en-US" b="true" sz="8192">
                <a:solidFill>
                  <a:srgbClr val="000000"/>
                </a:solidFill>
                <a:latin typeface="Century Gothic Paneuropean Bold"/>
                <a:ea typeface="Century Gothic Paneuropean Bold"/>
                <a:cs typeface="Century Gothic Paneuropean Bold"/>
                <a:sym typeface="Century Gothic Paneuropean Bold"/>
              </a:rPr>
              <a:t>APSTONE PROJECT</a:t>
            </a:r>
          </a:p>
        </p:txBody>
      </p:sp>
      <p:sp>
        <p:nvSpPr>
          <p:cNvPr name="TextBox 17" id="17"/>
          <p:cNvSpPr txBox="true"/>
          <p:nvPr/>
        </p:nvSpPr>
        <p:spPr>
          <a:xfrm rot="0">
            <a:off x="1569057" y="3018498"/>
            <a:ext cx="15690243" cy="1250562"/>
          </a:xfrm>
          <a:prstGeom prst="rect">
            <a:avLst/>
          </a:prstGeom>
        </p:spPr>
        <p:txBody>
          <a:bodyPr anchor="t" rtlCol="false" tIns="0" lIns="0" bIns="0" rIns="0">
            <a:spAutoFit/>
          </a:bodyPr>
          <a:lstStyle/>
          <a:p>
            <a:pPr algn="ctr">
              <a:lnSpc>
                <a:spcPts val="5096"/>
              </a:lnSpc>
            </a:pPr>
            <a:r>
              <a:rPr lang="en-US" sz="3640" b="true">
                <a:solidFill>
                  <a:srgbClr val="000000"/>
                </a:solidFill>
                <a:latin typeface="Century Gothic Paneuropean Bold"/>
                <a:ea typeface="Century Gothic Paneuropean Bold"/>
                <a:cs typeface="Century Gothic Paneuropean Bold"/>
                <a:sym typeface="Century Gothic Paneuropean Bold"/>
              </a:rPr>
              <a:t>Subtasks Overview:</a:t>
            </a:r>
          </a:p>
          <a:p>
            <a:pPr algn="ctr">
              <a:lnSpc>
                <a:spcPts val="509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6983036" y="3085173"/>
            <a:ext cx="9735906" cy="4301105"/>
          </a:xfrm>
          <a:custGeom>
            <a:avLst/>
            <a:gdLst/>
            <a:ahLst/>
            <a:cxnLst/>
            <a:rect r="r" b="b" t="t" l="l"/>
            <a:pathLst>
              <a:path h="4301105" w="9735906">
                <a:moveTo>
                  <a:pt x="0" y="0"/>
                </a:moveTo>
                <a:lnTo>
                  <a:pt x="9735907" y="0"/>
                </a:lnTo>
                <a:lnTo>
                  <a:pt x="9735907" y="4301104"/>
                </a:lnTo>
                <a:lnTo>
                  <a:pt x="0" y="4301104"/>
                </a:lnTo>
                <a:lnTo>
                  <a:pt x="0" y="0"/>
                </a:lnTo>
                <a:close/>
              </a:path>
            </a:pathLst>
          </a:custGeom>
          <a:blipFill>
            <a:blip r:embed="rId4"/>
            <a:stretch>
              <a:fillRect l="0" t="-25172" r="0" b="-20673"/>
            </a:stretch>
          </a:blipFill>
        </p:spPr>
      </p:sp>
      <p:sp>
        <p:nvSpPr>
          <p:cNvPr name="TextBox 14" id="14"/>
          <p:cNvSpPr txBox="true"/>
          <p:nvPr/>
        </p:nvSpPr>
        <p:spPr>
          <a:xfrm rot="0">
            <a:off x="4875411" y="336272"/>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PROJECT GOALS</a:t>
            </a:r>
          </a:p>
        </p:txBody>
      </p:sp>
      <p:sp>
        <p:nvSpPr>
          <p:cNvPr name="TextBox 15" id="15"/>
          <p:cNvSpPr txBox="true"/>
          <p:nvPr/>
        </p:nvSpPr>
        <p:spPr>
          <a:xfrm rot="0">
            <a:off x="1903897" y="1521490"/>
            <a:ext cx="14480207" cy="1888737"/>
          </a:xfrm>
          <a:prstGeom prst="rect">
            <a:avLst/>
          </a:prstGeom>
        </p:spPr>
        <p:txBody>
          <a:bodyPr anchor="t" rtlCol="false" tIns="0" lIns="0" bIns="0" rIns="0">
            <a:spAutoFit/>
          </a:bodyPr>
          <a:lstStyle/>
          <a:p>
            <a:pPr algn="l" marL="785932" indent="-392966" lvl="1">
              <a:lnSpc>
                <a:spcPts val="5096"/>
              </a:lnSpc>
              <a:buFont typeface="Arial"/>
              <a:buChar char="•"/>
            </a:pPr>
            <a:r>
              <a:rPr lang="en-US" b="true" sz="3640">
                <a:solidFill>
                  <a:srgbClr val="000000"/>
                </a:solidFill>
                <a:latin typeface="Century Gothic Paneuropean Bold"/>
                <a:ea typeface="Century Gothic Paneuropean Bold"/>
                <a:cs typeface="Century Gothic Paneuropean Bold"/>
                <a:sym typeface="Century Gothic Paneuropean Bold"/>
              </a:rPr>
              <a:t>Aim</a:t>
            </a:r>
            <a:r>
              <a:rPr lang="en-US" sz="3640">
                <a:solidFill>
                  <a:srgbClr val="000000"/>
                </a:solidFill>
                <a:latin typeface="Century Gothic Paneuropean"/>
                <a:ea typeface="Century Gothic Paneuropean"/>
                <a:cs typeface="Century Gothic Paneuropean"/>
                <a:sym typeface="Century Gothic Paneuropean"/>
              </a:rPr>
              <a:t>:</a:t>
            </a:r>
          </a:p>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To test &amp; automate a complete application ecosystem (web + mobile + backend) using multiple tools.</a:t>
            </a:r>
          </a:p>
        </p:txBody>
      </p:sp>
      <p:sp>
        <p:nvSpPr>
          <p:cNvPr name="TextBox 16" id="16"/>
          <p:cNvSpPr txBox="true"/>
          <p:nvPr/>
        </p:nvSpPr>
        <p:spPr>
          <a:xfrm rot="0">
            <a:off x="1095370" y="5270689"/>
            <a:ext cx="7560082" cy="3803262"/>
          </a:xfrm>
          <a:prstGeom prst="rect">
            <a:avLst/>
          </a:prstGeom>
        </p:spPr>
        <p:txBody>
          <a:bodyPr anchor="t" rtlCol="false" tIns="0" lIns="0" bIns="0" rIns="0">
            <a:spAutoFit/>
          </a:bodyPr>
          <a:lstStyle/>
          <a:p>
            <a:pPr algn="l" marL="785932" indent="-392966" lvl="1">
              <a:lnSpc>
                <a:spcPts val="5096"/>
              </a:lnSpc>
              <a:buFont typeface="Arial"/>
              <a:buChar char="•"/>
            </a:pPr>
            <a:r>
              <a:rPr lang="en-US" b="true" sz="3640">
                <a:solidFill>
                  <a:srgbClr val="000000"/>
                </a:solidFill>
                <a:latin typeface="Century Gothic Paneuropean Bold"/>
                <a:ea typeface="Century Gothic Paneuropean Bold"/>
                <a:cs typeface="Century Gothic Paneuropean Bold"/>
                <a:sym typeface="Century Gothic Paneuropean Bold"/>
              </a:rPr>
              <a:t>Tools Used:</a:t>
            </a:r>
          </a:p>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Jira, pycharm, MySQL, Pytest for Selenium (HP Store), GitHub Actions, node js. , Appium server (Flipkart App), Android Studio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842548" y="2744767"/>
            <a:ext cx="12130193" cy="5717787"/>
          </a:xfrm>
          <a:prstGeom prst="rect">
            <a:avLst/>
          </a:prstGeom>
        </p:spPr>
        <p:txBody>
          <a:bodyPr anchor="t" rtlCol="false" tIns="0" lIns="0" bIns="0" rIns="0">
            <a:spAutoFit/>
          </a:bodyPr>
          <a:lstStyle/>
          <a:p>
            <a:pPr algn="l">
              <a:lnSpc>
                <a:spcPts val="5096"/>
              </a:lnSpc>
            </a:pPr>
            <a:r>
              <a:rPr lang="en-US" sz="3640" b="true">
                <a:solidFill>
                  <a:srgbClr val="7A004B"/>
                </a:solidFill>
                <a:latin typeface="Century Gothic Paneuropean Bold"/>
                <a:ea typeface="Century Gothic Paneuropean Bold"/>
                <a:cs typeface="Century Gothic Paneuropean Bold"/>
                <a:sym typeface="Century Gothic Paneuropean Bold"/>
              </a:rPr>
              <a:t>🔹 What we created in Jira</a:t>
            </a:r>
          </a:p>
          <a:p>
            <a:pPr algn="l" marL="785932" indent="-392966" lvl="1">
              <a:lnSpc>
                <a:spcPts val="5096"/>
              </a:lnSpc>
              <a:buAutoNum type="arabicPeriod" startAt="1"/>
            </a:pPr>
            <a:r>
              <a:rPr lang="en-US" sz="3640">
                <a:solidFill>
                  <a:srgbClr val="000000"/>
                </a:solidFill>
                <a:latin typeface="Century Gothic Paneuropean"/>
                <a:ea typeface="Century Gothic Paneuropean"/>
                <a:cs typeface="Century Gothic Paneuropean"/>
                <a:sym typeface="Century Gothic Paneuropean"/>
              </a:rPr>
              <a:t>Epics</a:t>
            </a:r>
          </a:p>
          <a:p>
            <a:pPr algn="l" marL="785932" indent="-392966" lvl="1">
              <a:lnSpc>
                <a:spcPts val="5096"/>
              </a:lnSpc>
              <a:buAutoNum type="arabicPeriod" startAt="1"/>
            </a:pPr>
            <a:r>
              <a:rPr lang="en-US" sz="3640">
                <a:solidFill>
                  <a:srgbClr val="000000"/>
                </a:solidFill>
                <a:latin typeface="Century Gothic Paneuropean"/>
                <a:ea typeface="Century Gothic Paneuropean"/>
                <a:cs typeface="Century Gothic Paneuropean"/>
                <a:sym typeface="Century Gothic Paneuropean"/>
              </a:rPr>
              <a:t>User Stories</a:t>
            </a:r>
          </a:p>
          <a:p>
            <a:pPr algn="l" marL="785932" indent="-392966" lvl="1">
              <a:lnSpc>
                <a:spcPts val="5096"/>
              </a:lnSpc>
              <a:buAutoNum type="arabicPeriod" startAt="1"/>
            </a:pPr>
            <a:r>
              <a:rPr lang="en-US" sz="3640">
                <a:solidFill>
                  <a:srgbClr val="000000"/>
                </a:solidFill>
                <a:latin typeface="Century Gothic Paneuropean"/>
                <a:ea typeface="Century Gothic Paneuropean"/>
                <a:cs typeface="Century Gothic Paneuropean"/>
                <a:sym typeface="Century Gothic Paneuropean"/>
              </a:rPr>
              <a:t>Test Cases</a:t>
            </a:r>
          </a:p>
          <a:p>
            <a:pPr algn="l" marL="785932" indent="-392966" lvl="1">
              <a:lnSpc>
                <a:spcPts val="5096"/>
              </a:lnSpc>
              <a:buAutoNum type="arabicPeriod" startAt="1"/>
            </a:pPr>
            <a:r>
              <a:rPr lang="en-US" sz="3640">
                <a:solidFill>
                  <a:srgbClr val="000000"/>
                </a:solidFill>
                <a:latin typeface="Century Gothic Paneuropean"/>
                <a:ea typeface="Century Gothic Paneuropean"/>
                <a:cs typeface="Century Gothic Paneuropean"/>
                <a:sym typeface="Century Gothic Paneuropean"/>
              </a:rPr>
              <a:t>Test Executions</a:t>
            </a:r>
          </a:p>
          <a:p>
            <a:pPr algn="l">
              <a:lnSpc>
                <a:spcPts val="5096"/>
              </a:lnSpc>
            </a:pPr>
            <a:r>
              <a:rPr lang="en-US" sz="3640" b="true">
                <a:solidFill>
                  <a:srgbClr val="7A004B"/>
                </a:solidFill>
                <a:latin typeface="Century Gothic Paneuropean Bold"/>
                <a:ea typeface="Century Gothic Paneuropean Bold"/>
                <a:cs typeface="Century Gothic Paneuropean Bold"/>
                <a:sym typeface="Century Gothic Paneuropean Bold"/>
              </a:rPr>
              <a:t>🔹 Purpose</a:t>
            </a:r>
          </a:p>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To manually test key e-commerce features such as Login, Search, Cart, Payment, Order Tracking.</a:t>
            </a:r>
          </a:p>
          <a:p>
            <a:pPr algn="l">
              <a:lnSpc>
                <a:spcPts val="5096"/>
              </a:lnSpc>
            </a:pP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527177" y="2513940"/>
            <a:ext cx="6780008" cy="3991065"/>
          </a:xfrm>
          <a:custGeom>
            <a:avLst/>
            <a:gdLst/>
            <a:ahLst/>
            <a:cxnLst/>
            <a:rect r="r" b="b" t="t" l="l"/>
            <a:pathLst>
              <a:path h="3991065" w="6780008">
                <a:moveTo>
                  <a:pt x="0" y="0"/>
                </a:moveTo>
                <a:lnTo>
                  <a:pt x="6780008" y="0"/>
                </a:lnTo>
                <a:lnTo>
                  <a:pt x="6780008" y="3991065"/>
                </a:lnTo>
                <a:lnTo>
                  <a:pt x="0" y="3991065"/>
                </a:lnTo>
                <a:lnTo>
                  <a:pt x="0" y="0"/>
                </a:lnTo>
                <a:close/>
              </a:path>
            </a:pathLst>
          </a:custGeom>
          <a:blipFill>
            <a:blip r:embed="rId4"/>
            <a:stretch>
              <a:fillRect l="-11952" t="0" r="0" b="0"/>
            </a:stretch>
          </a:blipFill>
        </p:spPr>
      </p:sp>
      <p:sp>
        <p:nvSpPr>
          <p:cNvPr name="TextBox 15" id="15"/>
          <p:cNvSpPr txBox="true"/>
          <p:nvPr/>
        </p:nvSpPr>
        <p:spPr>
          <a:xfrm rot="0">
            <a:off x="2084166" y="1900340"/>
            <a:ext cx="13646957" cy="613601"/>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1. MANUAL TESTING WITH JIRA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75435" y="2390652"/>
            <a:ext cx="13407958" cy="6118827"/>
          </a:xfrm>
          <a:prstGeom prst="rect">
            <a:avLst/>
          </a:prstGeom>
        </p:spPr>
        <p:txBody>
          <a:bodyPr anchor="t" rtlCol="false" tIns="0" lIns="0" bIns="0" rIns="0">
            <a:spAutoFit/>
          </a:bodyPr>
          <a:lstStyle/>
          <a:p>
            <a:pPr algn="l">
              <a:lnSpc>
                <a:spcPts val="3466"/>
              </a:lnSpc>
            </a:pPr>
            <a:r>
              <a:rPr lang="en-US" sz="2476">
                <a:solidFill>
                  <a:srgbClr val="000000"/>
                </a:solidFill>
                <a:latin typeface="Century Gothic Paneuropean"/>
                <a:ea typeface="Century Gothic Paneuropean"/>
                <a:cs typeface="Century Gothic Paneuropean"/>
                <a:sym typeface="Century Gothic Paneuropean"/>
              </a:rPr>
              <a:t>📌</a:t>
            </a:r>
            <a:r>
              <a:rPr lang="en-US" sz="2476" b="true">
                <a:solidFill>
                  <a:srgbClr val="000000"/>
                </a:solidFill>
                <a:latin typeface="Century Gothic Paneuropean Bold"/>
                <a:ea typeface="Century Gothic Paneuropean Bold"/>
                <a:cs typeface="Century Gothic Paneuropean Bold"/>
                <a:sym typeface="Century Gothic Paneuropean Bold"/>
              </a:rPr>
              <a:t> Epic 1 – User Login</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Customer logs in using email/password.</a:t>
            </a:r>
          </a:p>
          <a:p>
            <a:pPr algn="l">
              <a:lnSpc>
                <a:spcPts val="3466"/>
              </a:lnSpc>
            </a:pPr>
            <a:r>
              <a:rPr lang="en-US" sz="2476" b="true">
                <a:solidFill>
                  <a:srgbClr val="000000"/>
                </a:solidFill>
                <a:latin typeface="Century Gothic Paneuropean Bold"/>
                <a:ea typeface="Century Gothic Paneuropean Bold"/>
                <a:cs typeface="Century Gothic Paneuropean Bold"/>
                <a:sym typeface="Century Gothic Paneuropean Bold"/>
              </a:rPr>
              <a:t>📌 Epic 2 – Product Search</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a:t>
            </a:r>
            <a:r>
              <a:rPr lang="en-US" sz="2476">
                <a:solidFill>
                  <a:srgbClr val="000000"/>
                </a:solidFill>
                <a:latin typeface="Century Gothic Paneuropean"/>
                <a:ea typeface="Century Gothic Paneuropean"/>
                <a:cs typeface="Century Gothic Paneuropean"/>
                <a:sym typeface="Century Gothic Paneuropean"/>
              </a:rPr>
              <a:t>tory: Search by product name.</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View search suggestions.</a:t>
            </a:r>
          </a:p>
          <a:p>
            <a:pPr algn="l">
              <a:lnSpc>
                <a:spcPts val="3466"/>
              </a:lnSpc>
            </a:pPr>
            <a:r>
              <a:rPr lang="en-US" sz="2476" b="true">
                <a:solidFill>
                  <a:srgbClr val="000000"/>
                </a:solidFill>
                <a:latin typeface="Century Gothic Paneuropean Bold"/>
                <a:ea typeface="Century Gothic Paneuropean Bold"/>
                <a:cs typeface="Century Gothic Paneuropean Bold"/>
                <a:sym typeface="Century Gothic Paneuropean Bold"/>
              </a:rPr>
              <a:t>📌 Epic 3 – Add to Cart</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Add product to cart.</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Remove product from cart.</a:t>
            </a:r>
          </a:p>
          <a:p>
            <a:pPr algn="l">
              <a:lnSpc>
                <a:spcPts val="3466"/>
              </a:lnSpc>
            </a:pPr>
            <a:r>
              <a:rPr lang="en-US" sz="2476" b="true">
                <a:solidFill>
                  <a:srgbClr val="000000"/>
                </a:solidFill>
                <a:latin typeface="Century Gothic Paneuropean Bold"/>
                <a:ea typeface="Century Gothic Paneuropean Bold"/>
                <a:cs typeface="Century Gothic Paneuropean Bold"/>
                <a:sym typeface="Century Gothic Paneuropean Bold"/>
              </a:rPr>
              <a:t>📌 Epic 4 – Checkout &amp; Payment</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Proceed to checkout.</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Payment confirmation.</a:t>
            </a:r>
          </a:p>
          <a:p>
            <a:pPr algn="l">
              <a:lnSpc>
                <a:spcPts val="3466"/>
              </a:lnSpc>
            </a:pPr>
            <a:r>
              <a:rPr lang="en-US" sz="2476" b="true">
                <a:solidFill>
                  <a:srgbClr val="000000"/>
                </a:solidFill>
                <a:latin typeface="Century Gothic Paneuropean Bold"/>
                <a:ea typeface="Century Gothic Paneuropean Bold"/>
                <a:cs typeface="Century Gothic Paneuropean Bold"/>
                <a:sym typeface="Century Gothic Paneuropean Bold"/>
              </a:rPr>
              <a:t>📌 Epic 5 – Order Tracking</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View order history.</a:t>
            </a:r>
          </a:p>
          <a:p>
            <a:pPr algn="l" marL="534629" indent="-267315" lvl="1">
              <a:lnSpc>
                <a:spcPts val="3466"/>
              </a:lnSpc>
              <a:buFont typeface="Arial"/>
              <a:buChar char="•"/>
            </a:pPr>
            <a:r>
              <a:rPr lang="en-US" sz="2476">
                <a:solidFill>
                  <a:srgbClr val="000000"/>
                </a:solidFill>
                <a:latin typeface="Century Gothic Paneuropean"/>
                <a:ea typeface="Century Gothic Paneuropean"/>
                <a:cs typeface="Century Gothic Paneuropean"/>
                <a:sym typeface="Century Gothic Paneuropean"/>
              </a:rPr>
              <a:t>Story: Track delivery status.</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767895" y="3835116"/>
            <a:ext cx="8491405" cy="4879900"/>
          </a:xfrm>
          <a:custGeom>
            <a:avLst/>
            <a:gdLst/>
            <a:ahLst/>
            <a:cxnLst/>
            <a:rect r="r" b="b" t="t" l="l"/>
            <a:pathLst>
              <a:path h="4879900" w="8491405">
                <a:moveTo>
                  <a:pt x="0" y="0"/>
                </a:moveTo>
                <a:lnTo>
                  <a:pt x="8491405" y="0"/>
                </a:lnTo>
                <a:lnTo>
                  <a:pt x="8491405" y="4879900"/>
                </a:lnTo>
                <a:lnTo>
                  <a:pt x="0" y="4879900"/>
                </a:lnTo>
                <a:lnTo>
                  <a:pt x="0" y="0"/>
                </a:lnTo>
                <a:close/>
              </a:path>
            </a:pathLst>
          </a:custGeom>
          <a:blipFill>
            <a:blip r:embed="rId4"/>
            <a:stretch>
              <a:fillRect l="-1140" t="0" r="-1140" b="0"/>
            </a:stretch>
          </a:blipFill>
        </p:spPr>
      </p:sp>
      <p:sp>
        <p:nvSpPr>
          <p:cNvPr name="TextBox 15" id="15"/>
          <p:cNvSpPr txBox="true"/>
          <p:nvPr/>
        </p:nvSpPr>
        <p:spPr>
          <a:xfrm rot="0">
            <a:off x="1569057" y="1668152"/>
            <a:ext cx="8537178" cy="531050"/>
          </a:xfrm>
          <a:prstGeom prst="rect">
            <a:avLst/>
          </a:prstGeom>
        </p:spPr>
        <p:txBody>
          <a:bodyPr anchor="t" rtlCol="false" tIns="0" lIns="0" bIns="0" rIns="0">
            <a:spAutoFit/>
          </a:bodyPr>
          <a:lstStyle/>
          <a:p>
            <a:pPr algn="ctr">
              <a:lnSpc>
                <a:spcPts val="4329"/>
              </a:lnSpc>
            </a:pPr>
            <a:r>
              <a:rPr lang="en-US" b="true" sz="3092">
                <a:solidFill>
                  <a:srgbClr val="000000"/>
                </a:solidFill>
                <a:latin typeface="Century Gothic Paneuropean Bold"/>
                <a:ea typeface="Century Gothic Paneuropean Bold"/>
                <a:cs typeface="Century Gothic Paneuropean Bold"/>
                <a:sym typeface="Century Gothic Paneuropean Bold"/>
              </a:rPr>
              <a:t>EPICS &amp; USER STORIES (JIRA BACKLOG)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6513723" y="4283218"/>
            <a:ext cx="9454285" cy="5318035"/>
          </a:xfrm>
          <a:custGeom>
            <a:avLst/>
            <a:gdLst/>
            <a:ahLst/>
            <a:cxnLst/>
            <a:rect r="r" b="b" t="t" l="l"/>
            <a:pathLst>
              <a:path h="5318035" w="9454285">
                <a:moveTo>
                  <a:pt x="0" y="0"/>
                </a:moveTo>
                <a:lnTo>
                  <a:pt x="9454286" y="0"/>
                </a:lnTo>
                <a:lnTo>
                  <a:pt x="9454286" y="5318035"/>
                </a:lnTo>
                <a:lnTo>
                  <a:pt x="0" y="5318035"/>
                </a:lnTo>
                <a:lnTo>
                  <a:pt x="0" y="0"/>
                </a:lnTo>
                <a:close/>
              </a:path>
            </a:pathLst>
          </a:custGeom>
          <a:blipFill>
            <a:blip r:embed="rId4"/>
            <a:stretch>
              <a:fillRect l="0" t="0" r="0" b="0"/>
            </a:stretch>
          </a:blipFill>
        </p:spPr>
      </p:sp>
      <p:sp>
        <p:nvSpPr>
          <p:cNvPr name="TextBox 14" id="14"/>
          <p:cNvSpPr txBox="true"/>
          <p:nvPr/>
        </p:nvSpPr>
        <p:spPr>
          <a:xfrm rot="0">
            <a:off x="2020932" y="421997"/>
            <a:ext cx="12130193" cy="4441437"/>
          </a:xfrm>
          <a:prstGeom prst="rect">
            <a:avLst/>
          </a:prstGeom>
        </p:spPr>
        <p:txBody>
          <a:bodyPr anchor="t" rtlCol="false" tIns="0" lIns="0" bIns="0" rIns="0">
            <a:spAutoFit/>
          </a:bodyPr>
          <a:lstStyle/>
          <a:p>
            <a:pPr algn="l">
              <a:lnSpc>
                <a:spcPts val="5096"/>
              </a:lnSpc>
            </a:pPr>
            <a:r>
              <a:rPr lang="en-US" sz="3640" b="true">
                <a:solidFill>
                  <a:srgbClr val="000000"/>
                </a:solidFill>
                <a:latin typeface="Century Gothic Paneuropean Bold"/>
                <a:ea typeface="Century Gothic Paneuropean Bold"/>
                <a:cs typeface="Century Gothic Paneuropean Bold"/>
                <a:sym typeface="Century Gothic Paneuropean Bold"/>
              </a:rPr>
              <a:t>Example Testcase (TC_LOGIN_001):</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Precondition: Registered user</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Steps: Open browser → Go to Flipkart → Enter credentials → Login</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Test Data: Email + Password</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Expected Result: Homepage opens</a:t>
            </a:r>
          </a:p>
          <a:p>
            <a:pPr algn="l">
              <a:lnSpc>
                <a:spcPts val="509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569057" y="2604261"/>
            <a:ext cx="13991567" cy="6514712"/>
          </a:xfrm>
          <a:prstGeom prst="rect">
            <a:avLst/>
          </a:prstGeom>
        </p:spPr>
        <p:txBody>
          <a:bodyPr anchor="t" rtlCol="false" tIns="0" lIns="0" bIns="0" rIns="0">
            <a:spAutoFit/>
          </a:bodyPr>
          <a:lstStyle/>
          <a:p>
            <a:pPr algn="l">
              <a:lnSpc>
                <a:spcPts val="3696"/>
              </a:lnSpc>
            </a:pPr>
            <a:r>
              <a:rPr lang="en-US" sz="2640" b="true">
                <a:solidFill>
                  <a:srgbClr val="7A004B"/>
                </a:solidFill>
                <a:latin typeface="Century Gothic Paneuropean Bold"/>
                <a:ea typeface="Century Gothic Paneuropean Bold"/>
                <a:cs typeface="Century Gothic Paneuropean Bold"/>
                <a:sym typeface="Century Gothic Paneuropean Bold"/>
              </a:rPr>
              <a:t>OOP Concepts Implemented</a:t>
            </a:r>
          </a:p>
          <a:p>
            <a:pPr algn="l">
              <a:lnSpc>
                <a:spcPts val="3696"/>
              </a:lnSpc>
            </a:pPr>
            <a:r>
              <a:rPr lang="en-US" sz="2640" b="true">
                <a:solidFill>
                  <a:srgbClr val="004AAD"/>
                </a:solidFill>
                <a:latin typeface="Century Gothic Paneuropean Bold"/>
                <a:ea typeface="Century Gothic Paneuropean Bold"/>
                <a:cs typeface="Century Gothic Paneuropean Bold"/>
                <a:sym typeface="Century Gothic Paneuropean Bold"/>
              </a:rPr>
              <a:t>1.  Classes &amp; Objects</a:t>
            </a:r>
          </a:p>
          <a:p>
            <a:pPr algn="l" marL="570038" indent="-285019" lvl="1">
              <a:lnSpc>
                <a:spcPts val="3696"/>
              </a:lnSpc>
              <a:buFont typeface="Arial"/>
              <a:buChar char="•"/>
            </a:pPr>
            <a:r>
              <a:rPr lang="en-US" sz="2640">
                <a:solidFill>
                  <a:srgbClr val="000000"/>
                </a:solidFill>
                <a:latin typeface="Century Gothic Paneuropean"/>
                <a:ea typeface="Century Gothic Paneuropean"/>
                <a:cs typeface="Century Gothic Paneuropean"/>
                <a:sym typeface="Century Gothic Paneuropean"/>
              </a:rPr>
              <a:t>Created multiple classes like: BankAccount, SavingsAccount, Customer, BankingSystem</a:t>
            </a:r>
          </a:p>
          <a:p>
            <a:pPr algn="l" marL="570038" indent="-285019" lvl="1">
              <a:lnSpc>
                <a:spcPts val="3696"/>
              </a:lnSpc>
              <a:buFont typeface="Arial"/>
              <a:buChar char="•"/>
            </a:pPr>
            <a:r>
              <a:rPr lang="en-US" sz="2640">
                <a:solidFill>
                  <a:srgbClr val="000000"/>
                </a:solidFill>
                <a:latin typeface="Century Gothic Paneuropean"/>
                <a:ea typeface="Century Gothic Paneuropean"/>
                <a:cs typeface="Century Gothic Paneuropean"/>
                <a:sym typeface="Century Gothic Paneuropean"/>
              </a:rPr>
              <a:t>Objects are created dynamically when adding customers, accounts, or performing transactions.</a:t>
            </a:r>
          </a:p>
          <a:p>
            <a:pPr algn="l">
              <a:lnSpc>
                <a:spcPts val="3696"/>
              </a:lnSpc>
            </a:pPr>
            <a:r>
              <a:rPr lang="en-US" sz="2640" b="true">
                <a:solidFill>
                  <a:srgbClr val="004AAD"/>
                </a:solidFill>
                <a:latin typeface="Century Gothic Paneuropean Bold"/>
                <a:ea typeface="Century Gothic Paneuropean Bold"/>
                <a:cs typeface="Century Gothic Paneuropean Bold"/>
                <a:sym typeface="Century Gothic Paneuropean Bold"/>
              </a:rPr>
              <a:t>2.  </a:t>
            </a:r>
            <a:r>
              <a:rPr lang="en-US" sz="2640" b="true">
                <a:solidFill>
                  <a:srgbClr val="004AAD"/>
                </a:solidFill>
                <a:latin typeface="Century Gothic Paneuropean Bold"/>
                <a:ea typeface="Century Gothic Paneuropean Bold"/>
                <a:cs typeface="Century Gothic Paneuropean Bold"/>
                <a:sym typeface="Century Gothic Paneuropean Bold"/>
              </a:rPr>
              <a:t>Inheritance</a:t>
            </a:r>
          </a:p>
          <a:p>
            <a:pPr algn="l" marL="570038" indent="-285019" lvl="1">
              <a:lnSpc>
                <a:spcPts val="3696"/>
              </a:lnSpc>
              <a:buFont typeface="Arial"/>
              <a:buChar char="•"/>
            </a:pPr>
            <a:r>
              <a:rPr lang="en-US" sz="2640">
                <a:solidFill>
                  <a:srgbClr val="000000"/>
                </a:solidFill>
                <a:latin typeface="Century Gothic Paneuropean"/>
                <a:ea typeface="Century Gothic Paneuropean"/>
                <a:cs typeface="Century Gothic Paneuropean"/>
                <a:sym typeface="Century Gothic Paneuropean"/>
              </a:rPr>
              <a:t>SavingsAccount inherits from BankAccount</a:t>
            </a:r>
          </a:p>
          <a:p>
            <a:pPr algn="l" marL="570038" indent="-285019" lvl="1">
              <a:lnSpc>
                <a:spcPts val="3696"/>
              </a:lnSpc>
              <a:buFont typeface="Arial"/>
              <a:buChar char="•"/>
            </a:pPr>
            <a:r>
              <a:rPr lang="en-US" sz="2640">
                <a:solidFill>
                  <a:srgbClr val="000000"/>
                </a:solidFill>
                <a:latin typeface="Century Gothic Paneuropean"/>
                <a:ea typeface="Century Gothic Paneuropean"/>
                <a:cs typeface="Century Gothic Paneuropean"/>
                <a:sym typeface="Century Gothic Paneuropean"/>
              </a:rPr>
              <a:t>Reuses deposit/withdraw logic</a:t>
            </a:r>
          </a:p>
          <a:p>
            <a:pPr algn="l">
              <a:lnSpc>
                <a:spcPts val="3696"/>
              </a:lnSpc>
            </a:pPr>
          </a:p>
          <a:p>
            <a:pPr algn="l">
              <a:lnSpc>
                <a:spcPts val="3696"/>
              </a:lnSpc>
            </a:pPr>
            <a:r>
              <a:rPr lang="en-US" sz="2640" b="true">
                <a:solidFill>
                  <a:srgbClr val="004AAD"/>
                </a:solidFill>
                <a:latin typeface="Century Gothic Paneuropean Bold"/>
                <a:ea typeface="Century Gothic Paneuropean Bold"/>
                <a:cs typeface="Century Gothic Paneuropean Bold"/>
                <a:sym typeface="Century Gothic Paneuropean Bold"/>
              </a:rPr>
              <a:t>class SavingsAccount(BankAccount):</a:t>
            </a:r>
          </a:p>
          <a:p>
            <a:pPr algn="l">
              <a:lnSpc>
                <a:spcPts val="3696"/>
              </a:lnSpc>
            </a:pPr>
            <a:r>
              <a:rPr lang="en-US" sz="2640" b="true">
                <a:solidFill>
                  <a:srgbClr val="004AAD"/>
                </a:solidFill>
                <a:latin typeface="Century Gothic Paneuropean Bold"/>
                <a:ea typeface="Century Gothic Paneuropean Bold"/>
                <a:cs typeface="Century Gothic Paneuropean Bold"/>
                <a:sym typeface="Century Gothic Paneuropean Bold"/>
              </a:rPr>
              <a:t>    def __init__(...):</a:t>
            </a:r>
          </a:p>
          <a:p>
            <a:pPr algn="l">
              <a:lnSpc>
                <a:spcPts val="3696"/>
              </a:lnSpc>
            </a:pPr>
            <a:r>
              <a:rPr lang="en-US" sz="2640" b="true">
                <a:solidFill>
                  <a:srgbClr val="004AAD"/>
                </a:solidFill>
                <a:latin typeface="Century Gothic Paneuropean Bold"/>
                <a:ea typeface="Century Gothic Paneuropean Bold"/>
                <a:cs typeface="Century Gothic Paneuropean Bold"/>
                <a:sym typeface="Century Gothic Paneuropean Bold"/>
              </a:rPr>
              <a:t>        super().__init__(...)</a:t>
            </a:r>
          </a:p>
          <a:p>
            <a:pPr algn="l">
              <a:lnSpc>
                <a:spcPts val="3696"/>
              </a:lnSpc>
            </a:pPr>
          </a:p>
        </p:txBody>
      </p:sp>
      <p:sp>
        <p:nvSpPr>
          <p:cNvPr name="Freeform 14" id="14"/>
          <p:cNvSpPr/>
          <p:nvPr/>
        </p:nvSpPr>
        <p:spPr>
          <a:xfrm flipH="false" flipV="false" rot="0">
            <a:off x="9622216" y="5323580"/>
            <a:ext cx="7637084" cy="4276767"/>
          </a:xfrm>
          <a:custGeom>
            <a:avLst/>
            <a:gdLst/>
            <a:ahLst/>
            <a:cxnLst/>
            <a:rect r="r" b="b" t="t" l="l"/>
            <a:pathLst>
              <a:path h="4276767" w="7637084">
                <a:moveTo>
                  <a:pt x="0" y="0"/>
                </a:moveTo>
                <a:lnTo>
                  <a:pt x="7637084" y="0"/>
                </a:lnTo>
                <a:lnTo>
                  <a:pt x="7637084" y="4276768"/>
                </a:lnTo>
                <a:lnTo>
                  <a:pt x="0" y="4276768"/>
                </a:lnTo>
                <a:lnTo>
                  <a:pt x="0" y="0"/>
                </a:lnTo>
                <a:close/>
              </a:path>
            </a:pathLst>
          </a:custGeom>
          <a:blipFill>
            <a:blip r:embed="rId4"/>
            <a:stretch>
              <a:fillRect l="0" t="0" r="0" b="0"/>
            </a:stretch>
          </a:blipFill>
        </p:spPr>
      </p:sp>
      <p:sp>
        <p:nvSpPr>
          <p:cNvPr name="TextBox 15" id="15"/>
          <p:cNvSpPr txBox="true"/>
          <p:nvPr/>
        </p:nvSpPr>
        <p:spPr>
          <a:xfrm rot="0">
            <a:off x="2084166" y="1900340"/>
            <a:ext cx="13646957" cy="613601"/>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2. PYTHON BANKING APPLICATION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69057" y="441047"/>
            <a:ext cx="16027660" cy="8936098"/>
          </a:xfrm>
          <a:prstGeom prst="rect">
            <a:avLst/>
          </a:prstGeom>
        </p:spPr>
        <p:txBody>
          <a:bodyPr anchor="t" rtlCol="false" tIns="0" lIns="0" bIns="0" rIns="0">
            <a:spAutoFit/>
          </a:bodyPr>
          <a:lstStyle/>
          <a:p>
            <a:pPr algn="l">
              <a:lnSpc>
                <a:spcPts val="3584"/>
              </a:lnSpc>
            </a:pPr>
            <a:r>
              <a:rPr lang="en-US" sz="2560">
                <a:solidFill>
                  <a:srgbClr val="7A004B"/>
                </a:solidFill>
                <a:latin typeface="Century Gothic Paneuropean"/>
                <a:ea typeface="Century Gothic Paneuropean"/>
                <a:cs typeface="Century Gothic Paneuropean"/>
                <a:sym typeface="Century Gothic Paneuropean"/>
              </a:rPr>
              <a:t> </a:t>
            </a:r>
            <a:r>
              <a:rPr lang="en-US" sz="2560" b="true">
                <a:solidFill>
                  <a:srgbClr val="7A004B"/>
                </a:solidFill>
                <a:latin typeface="Century Gothic Paneuropean Bold"/>
                <a:ea typeface="Century Gothic Paneuropean Bold"/>
                <a:cs typeface="Century Gothic Paneuropean Bold"/>
                <a:sym typeface="Century Gothic Paneuropean Bold"/>
              </a:rPr>
              <a:t>Encapsulation:</a:t>
            </a:r>
            <a:r>
              <a:rPr lang="en-US" sz="2560">
                <a:solidFill>
                  <a:srgbClr val="7A004B"/>
                </a:solidFill>
                <a:latin typeface="Century Gothic Paneuropean"/>
                <a:ea typeface="Century Gothic Paneuropean"/>
                <a:cs typeface="Century Gothic Paneuropean"/>
                <a:sym typeface="Century Gothic Paneuropean"/>
              </a:rPr>
              <a:t> </a:t>
            </a:r>
            <a:r>
              <a:rPr lang="en-US" sz="2560">
                <a:solidFill>
                  <a:srgbClr val="000000"/>
                </a:solidFill>
                <a:latin typeface="Century Gothic Paneuropean"/>
                <a:ea typeface="Century Gothic Paneuropean"/>
                <a:cs typeface="Century Gothic Paneuropean"/>
                <a:sym typeface="Century Gothic Paneuropean"/>
              </a:rPr>
              <a:t>Encapsulation means keeping data safe inside a class.</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 In our project:</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Account balance, account number, and customer ID are stored inside the BankAccount class.</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We cannot change them directly.</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We use methods like deposit(), withdraw(), add_interest() to update them.</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This protects the data from incorrect modification and keeps it controlled.</a:t>
            </a:r>
          </a:p>
          <a:p>
            <a:pPr algn="l">
              <a:lnSpc>
                <a:spcPts val="3584"/>
              </a:lnSpc>
            </a:pPr>
            <a:r>
              <a:rPr lang="en-US" sz="2560" b="true">
                <a:solidFill>
                  <a:srgbClr val="7A004B"/>
                </a:solidFill>
                <a:latin typeface="Century Gothic Paneuropean Bold"/>
                <a:ea typeface="Century Gothic Paneuropean Bold"/>
                <a:cs typeface="Century Gothic Paneuropean Bold"/>
                <a:sym typeface="Century Gothic Paneuropean Bold"/>
              </a:rPr>
              <a:t>Abstraction:</a:t>
            </a:r>
            <a:r>
              <a:rPr lang="en-US" sz="2560">
                <a:solidFill>
                  <a:srgbClr val="7A004B"/>
                </a:solidFill>
                <a:latin typeface="Century Gothic Paneuropean"/>
                <a:ea typeface="Century Gothic Paneuropean"/>
                <a:cs typeface="Century Gothic Paneuropean"/>
                <a:sym typeface="Century Gothic Paneuropean"/>
              </a:rPr>
              <a:t> </a:t>
            </a:r>
            <a:r>
              <a:rPr lang="en-US" sz="2560">
                <a:solidFill>
                  <a:srgbClr val="000000"/>
                </a:solidFill>
                <a:latin typeface="Century Gothic Paneuropean"/>
                <a:ea typeface="Century Gothic Paneuropean"/>
                <a:cs typeface="Century Gothic Paneuropean"/>
                <a:sym typeface="Century Gothic Paneuropean"/>
              </a:rPr>
              <a:t>Abstraction hides complex code and shows only the important functions.</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In the project:</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CSV reading/writing</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Logging transactions</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Interest calculation</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are hidden behind method like:</a:t>
            </a:r>
          </a:p>
          <a:p>
            <a:pPr algn="l">
              <a:lnSpc>
                <a:spcPts val="3584"/>
              </a:lnSpc>
            </a:pPr>
            <a:r>
              <a:rPr lang="en-US" sz="2560">
                <a:solidFill>
                  <a:srgbClr val="004AAD"/>
                </a:solidFill>
                <a:latin typeface="Century Gothic Paneuropean"/>
                <a:ea typeface="Century Gothic Paneuropean"/>
                <a:cs typeface="Century Gothic Paneuropean"/>
                <a:sym typeface="Century Gothic Paneuropean"/>
              </a:rPr>
              <a:t>            </a:t>
            </a:r>
            <a:r>
              <a:rPr lang="en-US" sz="2560" b="true">
                <a:solidFill>
                  <a:srgbClr val="004AAD"/>
                </a:solidFill>
                <a:latin typeface="Century Gothic Paneuropean Bold"/>
                <a:ea typeface="Century Gothic Paneuropean Bold"/>
                <a:cs typeface="Century Gothic Paneuropean Bold"/>
                <a:sym typeface="Century Gothic Paneuropean Bold"/>
              </a:rPr>
              <a:t>account.deposit(amount)</a:t>
            </a:r>
          </a:p>
          <a:p>
            <a:pPr algn="l">
              <a:lnSpc>
                <a:spcPts val="3584"/>
              </a:lnSpc>
            </a:pPr>
            <a:r>
              <a:rPr lang="en-US" sz="2560" b="true">
                <a:solidFill>
                  <a:srgbClr val="004AAD"/>
                </a:solidFill>
                <a:latin typeface="Century Gothic Paneuropean Bold"/>
                <a:ea typeface="Century Gothic Paneuropean Bold"/>
                <a:cs typeface="Century Gothic Paneuropean Bold"/>
                <a:sym typeface="Century Gothic Paneuropean Bold"/>
              </a:rPr>
              <a:t>            system.log_transaction(...)</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The user does not see how it works internally.</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now here </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Both BankAccount and SavingsAccount use deposit() and withdraw()</a:t>
            </a:r>
          </a:p>
          <a:p>
            <a:pPr algn="l" marL="552729" indent="-276365" lvl="1">
              <a:lnSpc>
                <a:spcPts val="3584"/>
              </a:lnSpc>
              <a:buFont typeface="Arial"/>
              <a:buChar char="•"/>
            </a:pPr>
            <a:r>
              <a:rPr lang="en-US" sz="2560">
                <a:solidFill>
                  <a:srgbClr val="000000"/>
                </a:solidFill>
                <a:latin typeface="Century Gothic Paneuropean"/>
                <a:ea typeface="Century Gothic Paneuropean"/>
                <a:cs typeface="Century Gothic Paneuropean"/>
                <a:sym typeface="Century Gothic Paneuropean"/>
              </a:rPr>
              <a:t>But SavingsAccount adds new behavior with add_interest()</a:t>
            </a:r>
          </a:p>
          <a:p>
            <a:pPr algn="l">
              <a:lnSpc>
                <a:spcPts val="3584"/>
              </a:lnSpc>
            </a:pPr>
            <a:r>
              <a:rPr lang="en-US" sz="2560">
                <a:solidFill>
                  <a:srgbClr val="000000"/>
                </a:solidFill>
                <a:latin typeface="Century Gothic Paneuropean"/>
                <a:ea typeface="Century Gothic Paneuropean"/>
                <a:cs typeface="Century Gothic Paneuropean"/>
                <a:sym typeface="Century Gothic Paneuropean"/>
              </a:rPr>
              <a:t>Same method name → different behavior depending on the class. this is the</a:t>
            </a:r>
            <a:r>
              <a:rPr lang="en-US" sz="2560">
                <a:solidFill>
                  <a:srgbClr val="7A004B"/>
                </a:solidFill>
                <a:latin typeface="Century Gothic Paneuropean"/>
                <a:ea typeface="Century Gothic Paneuropean"/>
                <a:cs typeface="Century Gothic Paneuropean"/>
                <a:sym typeface="Century Gothic Paneuropean"/>
              </a:rPr>
              <a:t> </a:t>
            </a:r>
            <a:r>
              <a:rPr lang="en-US" sz="2560" b="true">
                <a:solidFill>
                  <a:srgbClr val="7A004B"/>
                </a:solidFill>
                <a:latin typeface="Century Gothic Paneuropean Bold"/>
                <a:ea typeface="Century Gothic Paneuropean Bold"/>
                <a:cs typeface="Century Gothic Paneuropean Bold"/>
                <a:sym typeface="Century Gothic Paneuropean Bold"/>
              </a:rPr>
              <a:t>Polymorphism concept</a:t>
            </a:r>
          </a:p>
          <a:p>
            <a:pPr algn="l">
              <a:lnSpc>
                <a:spcPts val="3584"/>
              </a:lnSpc>
            </a:pP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582887" y="3718658"/>
            <a:ext cx="7136055" cy="3946428"/>
          </a:xfrm>
          <a:custGeom>
            <a:avLst/>
            <a:gdLst/>
            <a:ahLst/>
            <a:cxnLst/>
            <a:rect r="r" b="b" t="t" l="l"/>
            <a:pathLst>
              <a:path h="3946428" w="7136055">
                <a:moveTo>
                  <a:pt x="0" y="0"/>
                </a:moveTo>
                <a:lnTo>
                  <a:pt x="7136056" y="0"/>
                </a:lnTo>
                <a:lnTo>
                  <a:pt x="7136056" y="3946428"/>
                </a:lnTo>
                <a:lnTo>
                  <a:pt x="0" y="3946428"/>
                </a:lnTo>
                <a:lnTo>
                  <a:pt x="0" y="0"/>
                </a:lnTo>
                <a:close/>
              </a:path>
            </a:pathLst>
          </a:custGeom>
          <a:blipFill>
            <a:blip r:embed="rId4"/>
            <a:stretch>
              <a:fillRect l="0" t="-17699" r="-1803" b="-20185"/>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2084166" y="1900340"/>
            <a:ext cx="13646957" cy="613601"/>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3. SQL FOR BANKING</a:t>
            </a:r>
          </a:p>
        </p:txBody>
      </p:sp>
      <p:sp>
        <p:nvSpPr>
          <p:cNvPr name="TextBox 14" id="14"/>
          <p:cNvSpPr txBox="true"/>
          <p:nvPr/>
        </p:nvSpPr>
        <p:spPr>
          <a:xfrm rot="0">
            <a:off x="2842548" y="2763817"/>
            <a:ext cx="12130193" cy="6239122"/>
          </a:xfrm>
          <a:prstGeom prst="rect">
            <a:avLst/>
          </a:prstGeom>
        </p:spPr>
        <p:txBody>
          <a:bodyPr anchor="t" rtlCol="false" tIns="0" lIns="0" bIns="0" rIns="0">
            <a:spAutoFit/>
          </a:bodyPr>
          <a:lstStyle/>
          <a:p>
            <a:pPr algn="l">
              <a:lnSpc>
                <a:spcPts val="3136"/>
              </a:lnSpc>
            </a:pPr>
            <a:r>
              <a:rPr lang="en-US" sz="2240">
                <a:solidFill>
                  <a:srgbClr val="494848"/>
                </a:solidFill>
                <a:latin typeface="Century Gothic Paneuropean"/>
                <a:ea typeface="Century Gothic Paneuropean"/>
                <a:cs typeface="Century Gothic Paneuropean"/>
                <a:sym typeface="Century Gothic Paneuropean"/>
              </a:rPr>
              <a:t>In this application, I have used all the concepts of</a:t>
            </a:r>
            <a:r>
              <a:rPr lang="en-US" sz="2240" b="true">
                <a:solidFill>
                  <a:srgbClr val="494848"/>
                </a:solidFill>
                <a:latin typeface="Century Gothic Paneuropean Bold"/>
                <a:ea typeface="Century Gothic Paneuropean Bold"/>
                <a:cs typeface="Century Gothic Paneuropean Bold"/>
                <a:sym typeface="Century Gothic Paneuropean Bold"/>
              </a:rPr>
              <a:t> CRUD</a:t>
            </a:r>
            <a:r>
              <a:rPr lang="en-US" sz="2240">
                <a:solidFill>
                  <a:srgbClr val="494848"/>
                </a:solidFill>
                <a:latin typeface="Century Gothic Paneuropean"/>
                <a:ea typeface="Century Gothic Paneuropean"/>
                <a:cs typeface="Century Gothic Paneuropean"/>
                <a:sym typeface="Century Gothic Paneuropean"/>
              </a:rPr>
              <a:t> operations while building the bank</a:t>
            </a:r>
            <a:r>
              <a:rPr lang="en-US" sz="2240">
                <a:solidFill>
                  <a:srgbClr val="494848"/>
                </a:solidFill>
                <a:latin typeface="Century Gothic Paneuropean"/>
                <a:ea typeface="Century Gothic Paneuropean"/>
                <a:cs typeface="Century Gothic Paneuropean"/>
                <a:sym typeface="Century Gothic Paneuropean"/>
              </a:rPr>
              <a:t>ing system.</a:t>
            </a:r>
          </a:p>
          <a:p>
            <a:pPr algn="l">
              <a:lnSpc>
                <a:spcPts val="3136"/>
              </a:lnSpc>
            </a:pPr>
            <a:r>
              <a:rPr lang="en-US" sz="2240" b="true">
                <a:solidFill>
                  <a:srgbClr val="494848"/>
                </a:solidFill>
                <a:latin typeface="Century Gothic Paneuropean Bold"/>
                <a:ea typeface="Century Gothic Paneuropean Bold"/>
                <a:cs typeface="Century Gothic Paneuropean Bold"/>
                <a:sym typeface="Century Gothic Paneuropean Bold"/>
              </a:rPr>
              <a:t>CRUD</a:t>
            </a:r>
            <a:r>
              <a:rPr lang="en-US" sz="2240">
                <a:solidFill>
                  <a:srgbClr val="494848"/>
                </a:solidFill>
                <a:latin typeface="Century Gothic Paneuropean"/>
                <a:ea typeface="Century Gothic Paneuropean"/>
                <a:cs typeface="Century Gothic Paneuropean"/>
                <a:sym typeface="Century Gothic Paneuropean"/>
              </a:rPr>
              <a:t> stands for </a:t>
            </a:r>
            <a:r>
              <a:rPr lang="en-US" sz="2240" b="true">
                <a:solidFill>
                  <a:srgbClr val="494848"/>
                </a:solidFill>
                <a:latin typeface="Century Gothic Paneuropean Bold"/>
                <a:ea typeface="Century Gothic Paneuropean Bold"/>
                <a:cs typeface="Century Gothic Paneuropean Bold"/>
                <a:sym typeface="Century Gothic Paneuropean Bold"/>
              </a:rPr>
              <a:t>Create, Read, Update, and Delete</a:t>
            </a:r>
            <a:r>
              <a:rPr lang="en-US" sz="2240">
                <a:solidFill>
                  <a:srgbClr val="494848"/>
                </a:solidFill>
                <a:latin typeface="Century Gothic Paneuropean"/>
                <a:ea typeface="Century Gothic Paneuropean"/>
                <a:cs typeface="Century Gothic Paneuropean"/>
                <a:sym typeface="Century Gothic Paneuropean"/>
              </a:rPr>
              <a:t>, and these four operations are the foundation of any database-based application.</a:t>
            </a:r>
          </a:p>
          <a:p>
            <a:pPr algn="l">
              <a:lnSpc>
                <a:spcPts val="3136"/>
              </a:lnSpc>
            </a:pPr>
            <a:r>
              <a:rPr lang="en-US" sz="2240">
                <a:solidFill>
                  <a:srgbClr val="494848"/>
                </a:solidFill>
                <a:latin typeface="Century Gothic Paneuropean"/>
                <a:ea typeface="Century Gothic Paneuropean"/>
                <a:cs typeface="Century Gothic Paneuropean"/>
                <a:sym typeface="Century Gothic Paneuropean"/>
              </a:rPr>
              <a:t> In my project:</a:t>
            </a:r>
          </a:p>
          <a:p>
            <a:pPr algn="l" marL="483680" indent="-241840" lvl="1">
              <a:lnSpc>
                <a:spcPts val="3136"/>
              </a:lnSpc>
              <a:buFont typeface="Arial"/>
              <a:buChar char="•"/>
            </a:pPr>
            <a:r>
              <a:rPr lang="en-US" b="true" sz="2240">
                <a:solidFill>
                  <a:srgbClr val="494848"/>
                </a:solidFill>
                <a:latin typeface="Century Gothic Paneuropean Bold"/>
                <a:ea typeface="Century Gothic Paneuropean Bold"/>
                <a:cs typeface="Century Gothic Paneuropean Bold"/>
                <a:sym typeface="Century Gothic Paneuropean Bold"/>
              </a:rPr>
              <a:t>CREATE</a:t>
            </a:r>
            <a:r>
              <a:rPr lang="en-US" sz="2240">
                <a:solidFill>
                  <a:srgbClr val="494848"/>
                </a:solidFill>
                <a:latin typeface="Century Gothic Paneuropean"/>
                <a:ea typeface="Century Gothic Paneuropean"/>
                <a:cs typeface="Century Gothic Paneuropean"/>
                <a:sym typeface="Century Gothic Paneuropean"/>
              </a:rPr>
              <a:t> is used whenever a new customer, account, or transaction is</a:t>
            </a:r>
            <a:r>
              <a:rPr lang="en-US" sz="2240">
                <a:solidFill>
                  <a:srgbClr val="494848"/>
                </a:solidFill>
                <a:latin typeface="Century Gothic Paneuropean"/>
                <a:ea typeface="Century Gothic Paneuropean"/>
                <a:cs typeface="Century Gothic Paneuropean"/>
                <a:sym typeface="Century Gothic Paneuropean"/>
              </a:rPr>
              <a:t> added to the system.</a:t>
            </a:r>
          </a:p>
          <a:p>
            <a:pPr algn="l" marL="483680" indent="-241840" lvl="1">
              <a:lnSpc>
                <a:spcPts val="3136"/>
              </a:lnSpc>
              <a:buFont typeface="Arial"/>
              <a:buChar char="•"/>
            </a:pPr>
            <a:r>
              <a:rPr lang="en-US" b="true" sz="2240">
                <a:solidFill>
                  <a:srgbClr val="494848"/>
                </a:solidFill>
                <a:latin typeface="Century Gothic Paneuropean Bold"/>
                <a:ea typeface="Century Gothic Paneuropean Bold"/>
                <a:cs typeface="Century Gothic Paneuropean Bold"/>
                <a:sym typeface="Century Gothic Paneuropean Bold"/>
              </a:rPr>
              <a:t>READ</a:t>
            </a:r>
            <a:r>
              <a:rPr lang="en-US" sz="2240">
                <a:solidFill>
                  <a:srgbClr val="494848"/>
                </a:solidFill>
                <a:latin typeface="Century Gothic Paneuropean"/>
                <a:ea typeface="Century Gothic Paneuropean"/>
                <a:cs typeface="Century Gothic Paneuropean"/>
                <a:sym typeface="Century Gothic Paneuropean"/>
              </a:rPr>
              <a:t> is used t</a:t>
            </a:r>
            <a:r>
              <a:rPr lang="en-US" sz="2240">
                <a:solidFill>
                  <a:srgbClr val="494848"/>
                </a:solidFill>
                <a:latin typeface="Century Gothic Paneuropean"/>
                <a:ea typeface="Century Gothic Paneuropean"/>
                <a:cs typeface="Century Gothic Paneuropean"/>
                <a:sym typeface="Century Gothic Paneuropean"/>
              </a:rPr>
              <a:t>o view customer details, check account balances, and display the full transaction history.</a:t>
            </a:r>
          </a:p>
          <a:p>
            <a:pPr algn="l" marL="483680" indent="-241840" lvl="1">
              <a:lnSpc>
                <a:spcPts val="3136"/>
              </a:lnSpc>
              <a:buFont typeface="Arial"/>
              <a:buChar char="•"/>
            </a:pPr>
            <a:r>
              <a:rPr lang="en-US" b="true" sz="2240">
                <a:solidFill>
                  <a:srgbClr val="494848"/>
                </a:solidFill>
                <a:latin typeface="Century Gothic Paneuropean Bold"/>
                <a:ea typeface="Century Gothic Paneuropean Bold"/>
                <a:cs typeface="Century Gothic Paneuropean Bold"/>
                <a:sym typeface="Century Gothic Paneuropean Bold"/>
              </a:rPr>
              <a:t>UPDATE</a:t>
            </a:r>
            <a:r>
              <a:rPr lang="en-US" sz="2240">
                <a:solidFill>
                  <a:srgbClr val="494848"/>
                </a:solidFill>
                <a:latin typeface="Century Gothic Paneuropean"/>
                <a:ea typeface="Century Gothic Paneuropean"/>
                <a:cs typeface="Century Gothic Paneuropean"/>
                <a:sym typeface="Century Gothic Paneuropean"/>
              </a:rPr>
              <a:t> is used for real banking actions like deposit, withdraw, and adding interest to an account.</a:t>
            </a:r>
          </a:p>
          <a:p>
            <a:pPr algn="l" marL="483680" indent="-241840" lvl="1">
              <a:lnSpc>
                <a:spcPts val="3136"/>
              </a:lnSpc>
              <a:buFont typeface="Arial"/>
              <a:buChar char="•"/>
            </a:pPr>
            <a:r>
              <a:rPr lang="en-US" b="true" sz="2240">
                <a:solidFill>
                  <a:srgbClr val="494848"/>
                </a:solidFill>
                <a:latin typeface="Century Gothic Paneuropean Bold"/>
                <a:ea typeface="Century Gothic Paneuropean Bold"/>
                <a:cs typeface="Century Gothic Paneuropean Bold"/>
                <a:sym typeface="Century Gothic Paneuropean Bold"/>
              </a:rPr>
              <a:t>DELETE</a:t>
            </a:r>
            <a:r>
              <a:rPr lang="en-US" sz="2240">
                <a:solidFill>
                  <a:srgbClr val="494848"/>
                </a:solidFill>
                <a:latin typeface="Century Gothic Paneuropean"/>
                <a:ea typeface="Century Gothic Paneuropean"/>
                <a:cs typeface="Century Gothic Paneuropean"/>
                <a:sym typeface="Century Gothic Paneuropean"/>
              </a:rPr>
              <a:t> is used to safely remove a customer, their accounts, and all related transactions from the system.</a:t>
            </a:r>
          </a:p>
          <a:p>
            <a:pPr algn="l">
              <a:lnSpc>
                <a:spcPts val="3136"/>
              </a:lnSpc>
            </a:pPr>
            <a:r>
              <a:rPr lang="en-US" sz="2240">
                <a:solidFill>
                  <a:srgbClr val="494848"/>
                </a:solidFill>
                <a:latin typeface="Century Gothic Paneuropean"/>
                <a:ea typeface="Century Gothic Paneuropean"/>
                <a:cs typeface="Century Gothic Paneuropean"/>
                <a:sym typeface="Century Gothic Paneuropean"/>
              </a:rPr>
              <a:t>Together, these CRUD operations allow the banking application to behave like a real bank where data is continuously added, viewed, modified, and removed.</a:t>
            </a:r>
          </a:p>
          <a:p>
            <a:pPr algn="l">
              <a:lnSpc>
                <a:spcPts val="3136"/>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2910078" y="2821822"/>
            <a:ext cx="13998576" cy="4047571"/>
          </a:xfrm>
          <a:prstGeom prst="rect">
            <a:avLst/>
          </a:prstGeom>
        </p:spPr>
        <p:txBody>
          <a:bodyPr anchor="t" rtlCol="false" tIns="0" lIns="0" bIns="0" rIns="0">
            <a:spAutoFit/>
          </a:bodyPr>
          <a:lstStyle/>
          <a:p>
            <a:pPr algn="l">
              <a:lnSpc>
                <a:spcPts val="3619"/>
              </a:lnSpc>
            </a:pPr>
            <a:r>
              <a:rPr lang="en-US" sz="2585">
                <a:solidFill>
                  <a:srgbClr val="494848"/>
                </a:solidFill>
                <a:latin typeface="Century Gothic Paneuropean"/>
                <a:ea typeface="Century Gothic Paneuropean"/>
                <a:cs typeface="Century Gothic Paneuropean"/>
                <a:sym typeface="Century Gothic Paneuropean"/>
              </a:rPr>
              <a:t>I have also used </a:t>
            </a:r>
            <a:r>
              <a:rPr lang="en-US" sz="2585" b="true">
                <a:solidFill>
                  <a:srgbClr val="494848"/>
                </a:solidFill>
                <a:latin typeface="Century Gothic Paneuropean Bold"/>
                <a:ea typeface="Century Gothic Paneuropean Bold"/>
                <a:cs typeface="Century Gothic Paneuropean Bold"/>
                <a:sym typeface="Century Gothic Paneuropean Bold"/>
              </a:rPr>
              <a:t>SQL JOIN</a:t>
            </a:r>
            <a:r>
              <a:rPr lang="en-US" sz="2585">
                <a:solidFill>
                  <a:srgbClr val="494848"/>
                </a:solidFill>
                <a:latin typeface="Century Gothic Paneuropean"/>
                <a:ea typeface="Century Gothic Paneuropean"/>
                <a:cs typeface="Century Gothic Paneuropean"/>
                <a:sym typeface="Century Gothic Paneuropean"/>
              </a:rPr>
              <a:t> operations </a:t>
            </a:r>
            <a:r>
              <a:rPr lang="en-US" sz="2585">
                <a:solidFill>
                  <a:srgbClr val="494848"/>
                </a:solidFill>
                <a:latin typeface="Century Gothic Paneuropean"/>
                <a:ea typeface="Century Gothic Paneuropean"/>
                <a:cs typeface="Century Gothic Paneuropean"/>
                <a:sym typeface="Century Gothic Paneuropean"/>
              </a:rPr>
              <a:t>to co</a:t>
            </a:r>
            <a:r>
              <a:rPr lang="en-US" sz="2585">
                <a:solidFill>
                  <a:srgbClr val="494848"/>
                </a:solidFill>
                <a:latin typeface="Century Gothic Paneuropean"/>
                <a:ea typeface="Century Gothic Paneuropean"/>
                <a:cs typeface="Century Gothic Paneuropean"/>
                <a:sym typeface="Century Gothic Paneuropean"/>
              </a:rPr>
              <a:t>n</a:t>
            </a:r>
            <a:r>
              <a:rPr lang="en-US" sz="2585">
                <a:solidFill>
                  <a:srgbClr val="494848"/>
                </a:solidFill>
                <a:latin typeface="Century Gothic Paneuropean"/>
                <a:ea typeface="Century Gothic Paneuropean"/>
                <a:cs typeface="Century Gothic Paneuropean"/>
                <a:sym typeface="Century Gothic Paneuropean"/>
              </a:rPr>
              <a:t>n</a:t>
            </a:r>
            <a:r>
              <a:rPr lang="en-US" sz="2585">
                <a:solidFill>
                  <a:srgbClr val="494848"/>
                </a:solidFill>
                <a:latin typeface="Century Gothic Paneuropean"/>
                <a:ea typeface="Century Gothic Paneuropean"/>
                <a:cs typeface="Century Gothic Paneuropean"/>
                <a:sym typeface="Century Gothic Paneuropean"/>
              </a:rPr>
              <a:t>e</a:t>
            </a:r>
            <a:r>
              <a:rPr lang="en-US" sz="2585">
                <a:solidFill>
                  <a:srgbClr val="494848"/>
                </a:solidFill>
                <a:latin typeface="Century Gothic Paneuropean"/>
                <a:ea typeface="Century Gothic Paneuropean"/>
                <a:cs typeface="Century Gothic Paneuropean"/>
                <a:sym typeface="Century Gothic Paneuropean"/>
              </a:rPr>
              <a:t>c</a:t>
            </a:r>
            <a:r>
              <a:rPr lang="en-US" sz="2585">
                <a:solidFill>
                  <a:srgbClr val="494848"/>
                </a:solidFill>
                <a:latin typeface="Century Gothic Paneuropean"/>
                <a:ea typeface="Century Gothic Paneuropean"/>
                <a:cs typeface="Century Gothic Paneuropean"/>
                <a:sym typeface="Century Gothic Paneuropean"/>
              </a:rPr>
              <a:t>t</a:t>
            </a:r>
            <a:r>
              <a:rPr lang="en-US" sz="2585">
                <a:solidFill>
                  <a:srgbClr val="494848"/>
                </a:solidFill>
                <a:latin typeface="Century Gothic Paneuropean"/>
                <a:ea typeface="Century Gothic Paneuropean"/>
                <a:cs typeface="Century Gothic Paneuropean"/>
                <a:sym typeface="Century Gothic Paneuropean"/>
              </a:rPr>
              <a:t> information across tables.</a:t>
            </a:r>
          </a:p>
          <a:p>
            <a:pPr algn="l">
              <a:lnSpc>
                <a:spcPts val="3619"/>
              </a:lnSpc>
            </a:pPr>
            <a:r>
              <a:rPr lang="en-US" sz="2585">
                <a:solidFill>
                  <a:srgbClr val="494848"/>
                </a:solidFill>
                <a:latin typeface="Century Gothic Paneuropean"/>
                <a:ea typeface="Century Gothic Paneuropean"/>
                <a:cs typeface="Century Gothic Paneuropean"/>
                <a:sym typeface="Century Gothic Paneuropean"/>
              </a:rPr>
              <a:t>JO</a:t>
            </a:r>
            <a:r>
              <a:rPr lang="en-US" sz="2585">
                <a:solidFill>
                  <a:srgbClr val="494848"/>
                </a:solidFill>
                <a:latin typeface="Century Gothic Paneuropean"/>
                <a:ea typeface="Century Gothic Paneuropean"/>
                <a:cs typeface="Century Gothic Paneuropean"/>
                <a:sym typeface="Century Gothic Paneuropean"/>
              </a:rPr>
              <a:t>INs help combine Customers, Accounts, and Transactions in</a:t>
            </a:r>
            <a:r>
              <a:rPr lang="en-US" sz="2585">
                <a:solidFill>
                  <a:srgbClr val="494848"/>
                </a:solidFill>
                <a:latin typeface="Century Gothic Paneuropean"/>
                <a:ea typeface="Century Gothic Paneuropean"/>
                <a:cs typeface="Century Gothic Paneuropean"/>
                <a:sym typeface="Century Gothic Paneuropean"/>
              </a:rPr>
              <a:t>to one meaningful view.</a:t>
            </a:r>
          </a:p>
          <a:p>
            <a:pPr algn="l" marL="558180" indent="-279090" lvl="1">
              <a:lnSpc>
                <a:spcPts val="3619"/>
              </a:lnSpc>
              <a:buFont typeface="Arial"/>
              <a:buChar char="•"/>
            </a:pPr>
            <a:r>
              <a:rPr lang="en-US" b="true" sz="2585">
                <a:solidFill>
                  <a:srgbClr val="494848"/>
                </a:solidFill>
                <a:latin typeface="Century Gothic Paneuropean Bold"/>
                <a:ea typeface="Century Gothic Paneuropean Bold"/>
                <a:cs typeface="Century Gothic Paneuropean Bold"/>
                <a:sym typeface="Century Gothic Paneuropean Bold"/>
              </a:rPr>
              <a:t>INN</a:t>
            </a:r>
            <a:r>
              <a:rPr lang="en-US" b="true" sz="2585">
                <a:solidFill>
                  <a:srgbClr val="494848"/>
                </a:solidFill>
                <a:latin typeface="Century Gothic Paneuropean Bold"/>
                <a:ea typeface="Century Gothic Paneuropean Bold"/>
                <a:cs typeface="Century Gothic Paneuropean Bold"/>
                <a:sym typeface="Century Gothic Paneuropean Bold"/>
              </a:rPr>
              <a:t>ER JOIN</a:t>
            </a:r>
            <a:r>
              <a:rPr lang="en-US" sz="2585">
                <a:solidFill>
                  <a:srgbClr val="494848"/>
                </a:solidFill>
                <a:latin typeface="Century Gothic Paneuropean"/>
                <a:ea typeface="Century Gothic Paneuropean"/>
                <a:cs typeface="Century Gothic Paneuropean"/>
                <a:sym typeface="Century Gothic Paneuropean"/>
              </a:rPr>
              <a:t> sh</a:t>
            </a:r>
            <a:r>
              <a:rPr lang="en-US" sz="2585">
                <a:solidFill>
                  <a:srgbClr val="494848"/>
                </a:solidFill>
                <a:latin typeface="Century Gothic Paneuropean"/>
                <a:ea typeface="Century Gothic Paneuropean"/>
                <a:cs typeface="Century Gothic Paneuropean"/>
                <a:sym typeface="Century Gothic Paneuropean"/>
              </a:rPr>
              <a:t>ows customers along with their account details.</a:t>
            </a:r>
          </a:p>
          <a:p>
            <a:pPr algn="l" marL="558180" indent="-279090" lvl="1">
              <a:lnSpc>
                <a:spcPts val="3619"/>
              </a:lnSpc>
              <a:buFont typeface="Arial"/>
              <a:buChar char="•"/>
            </a:pPr>
            <a:r>
              <a:rPr lang="en-US" b="true" sz="2585">
                <a:solidFill>
                  <a:srgbClr val="494848"/>
                </a:solidFill>
                <a:latin typeface="Century Gothic Paneuropean Bold"/>
                <a:ea typeface="Century Gothic Paneuropean Bold"/>
                <a:cs typeface="Century Gothic Paneuropean Bold"/>
                <a:sym typeface="Century Gothic Paneuropean Bold"/>
              </a:rPr>
              <a:t>MULTI-TABLE JOIN </a:t>
            </a:r>
            <a:r>
              <a:rPr lang="en-US" sz="2585">
                <a:solidFill>
                  <a:srgbClr val="494848"/>
                </a:solidFill>
                <a:latin typeface="Century Gothic Paneuropean"/>
                <a:ea typeface="Century Gothic Paneuropean"/>
                <a:cs typeface="Century Gothic Paneuropean"/>
                <a:sym typeface="Century Gothic Paneuropean"/>
              </a:rPr>
              <a:t>brings Customers + Accounts + Transactions together to display complete transaction history.</a:t>
            </a:r>
          </a:p>
          <a:p>
            <a:pPr algn="l" marL="558180" indent="-279090" lvl="1">
              <a:lnSpc>
                <a:spcPts val="3619"/>
              </a:lnSpc>
              <a:buFont typeface="Arial"/>
              <a:buChar char="•"/>
            </a:pPr>
            <a:r>
              <a:rPr lang="en-US" b="true" sz="2585">
                <a:solidFill>
                  <a:srgbClr val="494848"/>
                </a:solidFill>
                <a:latin typeface="Century Gothic Paneuropean Bold"/>
                <a:ea typeface="Century Gothic Paneuropean Bold"/>
                <a:cs typeface="Century Gothic Paneuropean Bold"/>
                <a:sym typeface="Century Gothic Paneuropean Bold"/>
              </a:rPr>
              <a:t>LEFT JOIN</a:t>
            </a:r>
            <a:r>
              <a:rPr lang="en-US" sz="2585">
                <a:solidFill>
                  <a:srgbClr val="494848"/>
                </a:solidFill>
                <a:latin typeface="Century Gothic Paneuropean"/>
                <a:ea typeface="Century Gothic Paneuropean"/>
                <a:cs typeface="Century Gothic Paneuropean"/>
                <a:sym typeface="Century Gothic Paneuropean"/>
              </a:rPr>
              <a:t> shows all customers, even if they don’t have an account yet.</a:t>
            </a:r>
          </a:p>
          <a:p>
            <a:pPr algn="l">
              <a:lnSpc>
                <a:spcPts val="3619"/>
              </a:lnSpc>
            </a:pPr>
            <a:r>
              <a:rPr lang="en-US" sz="2585">
                <a:solidFill>
                  <a:srgbClr val="494848"/>
                </a:solidFill>
                <a:latin typeface="Century Gothic Paneuropean"/>
                <a:ea typeface="Century Gothic Paneuropean"/>
                <a:cs typeface="Century Gothic Paneuropean"/>
                <a:sym typeface="Century Gothic Paneuropean"/>
              </a:rPr>
              <a:t>JOINs make the banking system more powerful by showing complete, connected information instead of data from single tables.</a:t>
            </a:r>
          </a:p>
          <a:p>
            <a:pPr algn="l">
              <a:lnSpc>
                <a:spcPts val="3619"/>
              </a:lnSpc>
            </a:pPr>
          </a:p>
        </p:txBody>
      </p:sp>
      <p:sp>
        <p:nvSpPr>
          <p:cNvPr name="TextBox 14" id="14"/>
          <p:cNvSpPr txBox="true"/>
          <p:nvPr/>
        </p:nvSpPr>
        <p:spPr>
          <a:xfrm rot="0">
            <a:off x="2084166" y="1900340"/>
            <a:ext cx="13646957" cy="613601"/>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3. SQL FOR BANKING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580280" y="488672"/>
            <a:ext cx="5959756" cy="8769628"/>
          </a:xfrm>
          <a:custGeom>
            <a:avLst/>
            <a:gdLst/>
            <a:ahLst/>
            <a:cxnLst/>
            <a:rect r="r" b="b" t="t" l="l"/>
            <a:pathLst>
              <a:path h="8769628" w="5959756">
                <a:moveTo>
                  <a:pt x="0" y="0"/>
                </a:moveTo>
                <a:lnTo>
                  <a:pt x="5959756" y="0"/>
                </a:lnTo>
                <a:lnTo>
                  <a:pt x="5959756" y="8769628"/>
                </a:lnTo>
                <a:lnTo>
                  <a:pt x="0" y="8769628"/>
                </a:lnTo>
                <a:lnTo>
                  <a:pt x="0" y="0"/>
                </a:lnTo>
                <a:close/>
              </a:path>
            </a:pathLst>
          </a:custGeom>
          <a:blipFill>
            <a:blip r:embed="rId4"/>
            <a:stretch>
              <a:fillRect l="-6492" t="-11495" r="-6492" b="-4844"/>
            </a:stretch>
          </a:blipFill>
        </p:spPr>
      </p:sp>
      <p:sp>
        <p:nvSpPr>
          <p:cNvPr name="Freeform 14" id="14"/>
          <p:cNvSpPr/>
          <p:nvPr/>
        </p:nvSpPr>
        <p:spPr>
          <a:xfrm flipH="false" flipV="false" rot="0">
            <a:off x="2084166" y="4016110"/>
            <a:ext cx="8186298" cy="4533174"/>
          </a:xfrm>
          <a:custGeom>
            <a:avLst/>
            <a:gdLst/>
            <a:ahLst/>
            <a:cxnLst/>
            <a:rect r="r" b="b" t="t" l="l"/>
            <a:pathLst>
              <a:path h="4533174" w="8186298">
                <a:moveTo>
                  <a:pt x="0" y="0"/>
                </a:moveTo>
                <a:lnTo>
                  <a:pt x="8186298" y="0"/>
                </a:lnTo>
                <a:lnTo>
                  <a:pt x="8186298" y="4533174"/>
                </a:lnTo>
                <a:lnTo>
                  <a:pt x="0" y="4533174"/>
                </a:lnTo>
                <a:lnTo>
                  <a:pt x="0" y="0"/>
                </a:lnTo>
                <a:close/>
              </a:path>
            </a:pathLst>
          </a:custGeom>
          <a:blipFill>
            <a:blip r:embed="rId5"/>
            <a:stretch>
              <a:fillRect l="0" t="-16386" r="0" b="-10924"/>
            </a:stretch>
          </a:blipFill>
        </p:spPr>
      </p:sp>
      <p:sp>
        <p:nvSpPr>
          <p:cNvPr name="TextBox 15" id="15"/>
          <p:cNvSpPr txBox="true"/>
          <p:nvPr/>
        </p:nvSpPr>
        <p:spPr>
          <a:xfrm rot="0">
            <a:off x="1569057" y="1900340"/>
            <a:ext cx="8849696" cy="1251775"/>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4. AUTOMATION TESTING (SELENIUM + GITHUB ACTIONS) – HP STORE WEBSITE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2209866" y="-25974"/>
            <a:ext cx="3985975" cy="3985975"/>
          </a:xfrm>
          <a:prstGeom prst="rect">
            <a:avLst/>
          </a:prstGeom>
        </p:spPr>
      </p:pic>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03870" y="3018498"/>
            <a:ext cx="12933784" cy="4422162"/>
          </a:xfrm>
          <a:prstGeom prst="rect">
            <a:avLst/>
          </a:prstGeom>
        </p:spPr>
        <p:txBody>
          <a:bodyPr anchor="t" rtlCol="false" tIns="0" lIns="0" bIns="0" rIns="0">
            <a:spAutoFit/>
          </a:bodyPr>
          <a:lstStyle/>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hps</a:t>
            </a:r>
            <a:r>
              <a:rPr lang="en-US" sz="3160">
                <a:solidFill>
                  <a:srgbClr val="000000"/>
                </a:solidFill>
                <a:latin typeface="Open Sans"/>
                <a:ea typeface="Open Sans"/>
                <a:cs typeface="Open Sans"/>
                <a:sym typeface="Open Sans"/>
              </a:rPr>
              <a:t>tore.py – Main Page Object Model file (locators + actions)</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RegisterPage.py – POM for URL validation/registration page</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conftest.py – PyTest fixtures for browser setup &amp; screenshots</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popupreader.py – Handles alerts, modals, cookie popups, iframes</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excel_reader.py – Reads product names from Excel file</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test_hpstore.py – Main automation script (end-to-end flow)</a:t>
            </a:r>
          </a:p>
          <a:p>
            <a:pPr algn="l" marL="682260" indent="-341130" lvl="1">
              <a:lnSpc>
                <a:spcPts val="4424"/>
              </a:lnSpc>
              <a:spcBef>
                <a:spcPct val="0"/>
              </a:spcBef>
              <a:buFont typeface="Arial"/>
              <a:buChar char="•"/>
            </a:pPr>
            <a:r>
              <a:rPr lang="en-US" sz="3160">
                <a:solidFill>
                  <a:srgbClr val="000000"/>
                </a:solidFill>
                <a:latin typeface="Open Sans"/>
                <a:ea typeface="Open Sans"/>
                <a:cs typeface="Open Sans"/>
                <a:sym typeface="Open Sans"/>
              </a:rPr>
              <a:t>products.xlsx – Test data for product names</a:t>
            </a:r>
          </a:p>
          <a:p>
            <a:pPr algn="l">
              <a:lnSpc>
                <a:spcPts val="4424"/>
              </a:lnSpc>
              <a:spcBef>
                <a:spcPct val="0"/>
              </a:spcBef>
            </a:pPr>
          </a:p>
        </p:txBody>
      </p:sp>
      <p:sp>
        <p:nvSpPr>
          <p:cNvPr name="Freeform 15" id="15"/>
          <p:cNvSpPr/>
          <p:nvPr/>
        </p:nvSpPr>
        <p:spPr>
          <a:xfrm flipH="false" flipV="false" rot="0">
            <a:off x="12755332" y="5262916"/>
            <a:ext cx="4705580" cy="4154299"/>
          </a:xfrm>
          <a:custGeom>
            <a:avLst/>
            <a:gdLst/>
            <a:ahLst/>
            <a:cxnLst/>
            <a:rect r="r" b="b" t="t" l="l"/>
            <a:pathLst>
              <a:path h="4154299" w="4705580">
                <a:moveTo>
                  <a:pt x="0" y="0"/>
                </a:moveTo>
                <a:lnTo>
                  <a:pt x="4705580" y="0"/>
                </a:lnTo>
                <a:lnTo>
                  <a:pt x="4705580" y="4154299"/>
                </a:lnTo>
                <a:lnTo>
                  <a:pt x="0" y="4154299"/>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5411" y="574900"/>
            <a:ext cx="8537178" cy="1392115"/>
          </a:xfrm>
          <a:prstGeom prst="rect">
            <a:avLst/>
          </a:prstGeom>
        </p:spPr>
        <p:txBody>
          <a:bodyPr anchor="t" rtlCol="false" tIns="0" lIns="0" bIns="0" rIns="0">
            <a:spAutoFit/>
          </a:bodyPr>
          <a:lstStyle/>
          <a:p>
            <a:pPr algn="ctr">
              <a:lnSpc>
                <a:spcPts val="11469"/>
              </a:lnSpc>
            </a:pPr>
            <a:r>
              <a:rPr lang="en-US" b="true" sz="8192">
                <a:solidFill>
                  <a:srgbClr val="004AAD"/>
                </a:solidFill>
                <a:latin typeface="Century Gothic Paneuropean Bold"/>
                <a:ea typeface="Century Gothic Paneuropean Bold"/>
                <a:cs typeface="Century Gothic Paneuropean Bold"/>
                <a:sym typeface="Century Gothic Paneuropean Bold"/>
              </a:rPr>
              <a:t>POM</a:t>
            </a:r>
          </a:p>
        </p:txBody>
      </p:sp>
      <p:sp>
        <p:nvSpPr>
          <p:cNvPr name="TextBox 3" id="3"/>
          <p:cNvSpPr txBox="true"/>
          <p:nvPr/>
        </p:nvSpPr>
        <p:spPr>
          <a:xfrm rot="0">
            <a:off x="1569057" y="2128285"/>
            <a:ext cx="15209175" cy="4459852"/>
          </a:xfrm>
          <a:prstGeom prst="rect">
            <a:avLst/>
          </a:prstGeom>
        </p:spPr>
        <p:txBody>
          <a:bodyPr anchor="t" rtlCol="false" tIns="0" lIns="0" bIns="0" rIns="0">
            <a:spAutoFit/>
          </a:bodyPr>
          <a:lstStyle/>
          <a:p>
            <a:pPr algn="l">
              <a:lnSpc>
                <a:spcPts val="3556"/>
              </a:lnSpc>
            </a:pPr>
            <a:r>
              <a:rPr lang="en-US" sz="2540">
                <a:solidFill>
                  <a:srgbClr val="000000"/>
                </a:solidFill>
                <a:latin typeface="Century Gothic Paneuropean"/>
                <a:ea typeface="Century Gothic Paneuropean"/>
                <a:cs typeface="Century Gothic Paneuropean"/>
                <a:sym typeface="Century Gothic Paneuropean"/>
              </a:rPr>
              <a:t>Page Object Model is a design pattern in Selenium where each webpage is represented as a separate class, and all the elements and actions related to that page are stored inside that class.</a:t>
            </a:r>
          </a:p>
          <a:p>
            <a:pPr algn="l">
              <a:lnSpc>
                <a:spcPts val="3556"/>
              </a:lnSpc>
            </a:pPr>
            <a:r>
              <a:rPr lang="en-US" sz="2540" b="true">
                <a:solidFill>
                  <a:srgbClr val="442A1E"/>
                </a:solidFill>
                <a:latin typeface="Century Gothic Paneuropean Bold"/>
                <a:ea typeface="Century Gothic Paneuropean Bold"/>
                <a:cs typeface="Century Gothic Paneuropean Bold"/>
                <a:sym typeface="Century Gothic Paneuropean Bold"/>
              </a:rPr>
              <a:t>How i applied Pom in MY project?</a:t>
            </a:r>
          </a:p>
          <a:p>
            <a:pPr algn="l" marL="548448" indent="-274224" lvl="1">
              <a:lnSpc>
                <a:spcPts val="3556"/>
              </a:lnSpc>
              <a:buFont typeface="Arial"/>
              <a:buChar char="•"/>
            </a:pPr>
            <a:r>
              <a:rPr lang="en-US" sz="2540">
                <a:solidFill>
                  <a:srgbClr val="000000"/>
                </a:solidFill>
                <a:latin typeface="Century Gothic Paneuropean"/>
                <a:ea typeface="Century Gothic Paneuropean"/>
                <a:cs typeface="Century Gothic Paneuropean"/>
                <a:sym typeface="Century Gothic Paneuropean"/>
              </a:rPr>
              <a:t>All web locators (XPath, ID, CSS selectors) are stored inside the POM file instead of the test script.</a:t>
            </a:r>
          </a:p>
          <a:p>
            <a:pPr algn="l" marL="548448" indent="-274224" lvl="1">
              <a:lnSpc>
                <a:spcPts val="3556"/>
              </a:lnSpc>
              <a:buFont typeface="Arial"/>
              <a:buChar char="•"/>
            </a:pPr>
            <a:r>
              <a:rPr lang="en-US" sz="2540">
                <a:solidFill>
                  <a:srgbClr val="000000"/>
                </a:solidFill>
                <a:latin typeface="Century Gothic Paneuropean"/>
                <a:ea typeface="Century Gothic Paneuropean"/>
                <a:cs typeface="Century Gothic Paneuropean"/>
                <a:sym typeface="Century Gothic Paneuropean"/>
              </a:rPr>
              <a:t>All actions that the user performs (clicking, typing, searching) are created as separate methods.</a:t>
            </a:r>
          </a:p>
          <a:p>
            <a:pPr algn="l" marL="548448" indent="-274224" lvl="1">
              <a:lnSpc>
                <a:spcPts val="3556"/>
              </a:lnSpc>
              <a:buFont typeface="Arial"/>
              <a:buChar char="•"/>
            </a:pPr>
            <a:r>
              <a:rPr lang="en-US" sz="2540">
                <a:solidFill>
                  <a:srgbClr val="000000"/>
                </a:solidFill>
                <a:latin typeface="Century Gothic Paneuropean"/>
                <a:ea typeface="Century Gothic Paneuropean"/>
                <a:cs typeface="Century Gothic Paneuropean"/>
                <a:sym typeface="Century Gothic Paneuropean"/>
              </a:rPr>
              <a:t>The test script only calls these methods, it never interacts with the webpage directly.</a:t>
            </a:r>
          </a:p>
          <a:p>
            <a:pPr algn="l">
              <a:lnSpc>
                <a:spcPts val="355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6063931" y="6750061"/>
            <a:ext cx="9739235" cy="860425"/>
          </a:xfrm>
          <a:prstGeom prst="rect">
            <a:avLst/>
          </a:prstGeom>
        </p:spPr>
        <p:txBody>
          <a:bodyPr anchor="t" rtlCol="false" tIns="0" lIns="0" bIns="0" rIns="0">
            <a:spAutoFit/>
          </a:bodyPr>
          <a:lstStyle/>
          <a:p>
            <a:pPr algn="l">
              <a:lnSpc>
                <a:spcPts val="3499"/>
              </a:lnSpc>
              <a:spcBef>
                <a:spcPct val="0"/>
              </a:spcBef>
            </a:pPr>
            <a:r>
              <a:rPr lang="en-US" sz="2499">
                <a:solidFill>
                  <a:srgbClr val="004AAD"/>
                </a:solidFill>
                <a:latin typeface="Open Sans"/>
                <a:ea typeface="Open Sans"/>
                <a:cs typeface="Open Sans"/>
                <a:sym typeface="Open Sans"/>
              </a:rPr>
              <a:t>in my project POM uses </a:t>
            </a:r>
            <a:r>
              <a:rPr lang="en-US" sz="2499">
                <a:solidFill>
                  <a:srgbClr val="004AAD"/>
                </a:solidFill>
                <a:latin typeface="Open Sans"/>
                <a:ea typeface="Open Sans"/>
                <a:cs typeface="Open Sans"/>
                <a:sym typeface="Open Sans"/>
              </a:rPr>
              <a:t>By.ID , By.XPATH , By.CSS_SELECTOR </a:t>
            </a:r>
          </a:p>
          <a:p>
            <a:pPr algn="l">
              <a:lnSpc>
                <a:spcPts val="3499"/>
              </a:lnSpc>
              <a:spcBef>
                <a:spcPct val="0"/>
              </a:spcBef>
            </a:pPr>
            <a:r>
              <a:rPr lang="en-US" sz="2499">
                <a:solidFill>
                  <a:srgbClr val="004AAD"/>
                </a:solidFill>
                <a:latin typeface="Open Sans"/>
                <a:ea typeface="Open Sans"/>
                <a:cs typeface="Open Sans"/>
                <a:sym typeface="Open Sans"/>
              </a:rPr>
              <a:t>These locators help Selenium to find UI elements on the website.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942147" y="2763817"/>
            <a:ext cx="7245144" cy="5067547"/>
          </a:xfrm>
          <a:prstGeom prst="rect">
            <a:avLst/>
          </a:prstGeom>
        </p:spPr>
        <p:txBody>
          <a:bodyPr anchor="t" rtlCol="false" tIns="0" lIns="0" bIns="0" rIns="0">
            <a:spAutoFit/>
          </a:bodyPr>
          <a:lstStyle/>
          <a:p>
            <a:pPr algn="l">
              <a:lnSpc>
                <a:spcPts val="3136"/>
              </a:lnSpc>
            </a:pPr>
            <a:r>
              <a:rPr lang="en-US" sz="2240" b="true">
                <a:solidFill>
                  <a:srgbClr val="494848"/>
                </a:solidFill>
                <a:latin typeface="Century Gothic Paneuropean Bold"/>
                <a:ea typeface="Century Gothic Paneuropean Bold"/>
                <a:cs typeface="Century Gothic Paneuropean Bold"/>
                <a:sym typeface="Century Gothic Paneuropean Bold"/>
              </a:rPr>
              <a:t>Page Object Model (POM)</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home_</a:t>
            </a:r>
            <a:r>
              <a:rPr lang="en-US" sz="2240">
                <a:solidFill>
                  <a:srgbClr val="494848"/>
                </a:solidFill>
                <a:latin typeface="Century Gothic Paneuropean"/>
                <a:ea typeface="Century Gothic Paneuropean"/>
                <a:cs typeface="Century Gothic Paneuropean"/>
                <a:sym typeface="Century Gothic Paneuropean"/>
              </a:rPr>
              <a:t>page.py → handles search, p</a:t>
            </a:r>
            <a:r>
              <a:rPr lang="en-US" sz="2240">
                <a:solidFill>
                  <a:srgbClr val="494848"/>
                </a:solidFill>
                <a:latin typeface="Century Gothic Paneuropean"/>
                <a:ea typeface="Century Gothic Paneuropean"/>
                <a:cs typeface="Century Gothic Paneuropean"/>
                <a:sym typeface="Century Gothic Paneuropean"/>
              </a:rPr>
              <a:t>ermissions</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search_results_page.py → filters, resul</a:t>
            </a:r>
            <a:r>
              <a:rPr lang="en-US" sz="2240">
                <a:solidFill>
                  <a:srgbClr val="494848"/>
                </a:solidFill>
                <a:latin typeface="Century Gothic Paneuropean"/>
                <a:ea typeface="Century Gothic Paneuropean"/>
                <a:cs typeface="Century Gothic Paneuropean"/>
                <a:sym typeface="Century Gothic Paneuropean"/>
              </a:rPr>
              <a:t>ts, scrolling</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Cleane</a:t>
            </a:r>
            <a:r>
              <a:rPr lang="en-US" sz="2240">
                <a:solidFill>
                  <a:srgbClr val="494848"/>
                </a:solidFill>
                <a:latin typeface="Century Gothic Paneuropean"/>
                <a:ea typeface="Century Gothic Paneuropean"/>
                <a:cs typeface="Century Gothic Paneuropean"/>
                <a:sym typeface="Century Gothic Paneuropean"/>
              </a:rPr>
              <a:t>r code</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Easy to maintain</a:t>
            </a:r>
          </a:p>
          <a:p>
            <a:pPr algn="l">
              <a:lnSpc>
                <a:spcPts val="3136"/>
              </a:lnSpc>
            </a:pPr>
            <a:r>
              <a:rPr lang="en-US" sz="2240" b="true">
                <a:solidFill>
                  <a:srgbClr val="494848"/>
                </a:solidFill>
                <a:latin typeface="Century Gothic Paneuropean Bold"/>
                <a:ea typeface="Century Gothic Paneuropean Bold"/>
                <a:cs typeface="Century Gothic Paneuropean Bold"/>
                <a:sym typeface="Century Gothic Paneuropean Bold"/>
              </a:rPr>
              <a:t>Popup Handling</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Permissions</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Language screen</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Logi</a:t>
            </a:r>
            <a:r>
              <a:rPr lang="en-US" sz="2240">
                <a:solidFill>
                  <a:srgbClr val="494848"/>
                </a:solidFill>
                <a:latin typeface="Century Gothic Paneuropean"/>
                <a:ea typeface="Century Gothic Paneuropean"/>
                <a:cs typeface="Century Gothic Paneuropean"/>
                <a:sym typeface="Century Gothic Paneuropean"/>
              </a:rPr>
              <a:t>n popup</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Notif</a:t>
            </a:r>
            <a:r>
              <a:rPr lang="en-US" sz="2240">
                <a:solidFill>
                  <a:srgbClr val="494848"/>
                </a:solidFill>
                <a:latin typeface="Century Gothic Paneuropean"/>
                <a:ea typeface="Century Gothic Paneuropean"/>
                <a:cs typeface="Century Gothic Paneuropean"/>
                <a:sym typeface="Century Gothic Paneuropean"/>
              </a:rPr>
              <a:t>ication popup</a:t>
            </a:r>
          </a:p>
          <a:p>
            <a:pPr algn="l" marL="483680" indent="-241840" lvl="1">
              <a:lnSpc>
                <a:spcPts val="3136"/>
              </a:lnSpc>
              <a:buFont typeface="Arial"/>
              <a:buChar char="•"/>
            </a:pPr>
            <a:r>
              <a:rPr lang="en-US" sz="2240">
                <a:solidFill>
                  <a:srgbClr val="494848"/>
                </a:solidFill>
                <a:latin typeface="Century Gothic Paneuropean"/>
                <a:ea typeface="Century Gothic Paneuropean"/>
                <a:cs typeface="Century Gothic Paneuropean"/>
                <a:sym typeface="Century Gothic Paneuropean"/>
              </a:rPr>
              <a:t>Random overl</a:t>
            </a:r>
            <a:r>
              <a:rPr lang="en-US" sz="2240">
                <a:solidFill>
                  <a:srgbClr val="494848"/>
                </a:solidFill>
                <a:latin typeface="Century Gothic Paneuropean"/>
                <a:ea typeface="Century Gothic Paneuropean"/>
                <a:cs typeface="Century Gothic Paneuropean"/>
                <a:sym typeface="Century Gothic Paneuropean"/>
              </a:rPr>
              <a:t>ays</a:t>
            </a:r>
          </a:p>
          <a:p>
            <a:pPr algn="l">
              <a:lnSpc>
                <a:spcPts val="3136"/>
              </a:lnSpc>
            </a:pPr>
          </a:p>
          <a:p>
            <a:pPr algn="l">
              <a:lnSpc>
                <a:spcPts val="3136"/>
              </a:lnSpc>
            </a:pPr>
          </a:p>
        </p:txBody>
      </p:sp>
      <p:sp>
        <p:nvSpPr>
          <p:cNvPr name="Freeform 14" id="14"/>
          <p:cNvSpPr/>
          <p:nvPr/>
        </p:nvSpPr>
        <p:spPr>
          <a:xfrm flipH="false" flipV="false" rot="0">
            <a:off x="7089645" y="186122"/>
            <a:ext cx="2054355" cy="2054355"/>
          </a:xfrm>
          <a:custGeom>
            <a:avLst/>
            <a:gdLst/>
            <a:ahLst/>
            <a:cxnLst/>
            <a:rect r="r" b="b" t="t" l="l"/>
            <a:pathLst>
              <a:path h="2054355" w="2054355">
                <a:moveTo>
                  <a:pt x="0" y="0"/>
                </a:moveTo>
                <a:lnTo>
                  <a:pt x="2054355" y="0"/>
                </a:lnTo>
                <a:lnTo>
                  <a:pt x="2054355" y="2054355"/>
                </a:lnTo>
                <a:lnTo>
                  <a:pt x="0" y="2054355"/>
                </a:lnTo>
                <a:lnTo>
                  <a:pt x="0" y="0"/>
                </a:lnTo>
                <a:close/>
              </a:path>
            </a:pathLst>
          </a:custGeom>
          <a:blipFill>
            <a:blip r:embed="rId4"/>
            <a:stretch>
              <a:fillRect l="0" t="0" r="0" b="0"/>
            </a:stretch>
          </a:blipFill>
        </p:spPr>
      </p:sp>
      <p:sp>
        <p:nvSpPr>
          <p:cNvPr name="Freeform 15" id="15"/>
          <p:cNvSpPr/>
          <p:nvPr/>
        </p:nvSpPr>
        <p:spPr>
          <a:xfrm flipH="false" flipV="false" rot="0">
            <a:off x="9428258" y="116090"/>
            <a:ext cx="1825220" cy="1825220"/>
          </a:xfrm>
          <a:custGeom>
            <a:avLst/>
            <a:gdLst/>
            <a:ahLst/>
            <a:cxnLst/>
            <a:rect r="r" b="b" t="t" l="l"/>
            <a:pathLst>
              <a:path h="1825220" w="1825220">
                <a:moveTo>
                  <a:pt x="0" y="0"/>
                </a:moveTo>
                <a:lnTo>
                  <a:pt x="1825220" y="0"/>
                </a:lnTo>
                <a:lnTo>
                  <a:pt x="1825220" y="1825220"/>
                </a:lnTo>
                <a:lnTo>
                  <a:pt x="0" y="1825220"/>
                </a:lnTo>
                <a:lnTo>
                  <a:pt x="0" y="0"/>
                </a:lnTo>
                <a:close/>
              </a:path>
            </a:pathLst>
          </a:custGeom>
          <a:blipFill>
            <a:blip r:embed="rId5"/>
            <a:stretch>
              <a:fillRect l="0" t="0" r="0" b="0"/>
            </a:stretch>
          </a:blipFill>
        </p:spPr>
      </p:sp>
      <p:sp>
        <p:nvSpPr>
          <p:cNvPr name="Freeform 16" id="16"/>
          <p:cNvSpPr/>
          <p:nvPr/>
        </p:nvSpPr>
        <p:spPr>
          <a:xfrm flipH="false" flipV="false" rot="0">
            <a:off x="11755165" y="178970"/>
            <a:ext cx="3821339" cy="1762340"/>
          </a:xfrm>
          <a:custGeom>
            <a:avLst/>
            <a:gdLst/>
            <a:ahLst/>
            <a:cxnLst/>
            <a:rect r="r" b="b" t="t" l="l"/>
            <a:pathLst>
              <a:path h="1762340" w="3821339">
                <a:moveTo>
                  <a:pt x="0" y="0"/>
                </a:moveTo>
                <a:lnTo>
                  <a:pt x="3821338" y="0"/>
                </a:lnTo>
                <a:lnTo>
                  <a:pt x="3821338" y="1762340"/>
                </a:lnTo>
                <a:lnTo>
                  <a:pt x="0" y="1762340"/>
                </a:lnTo>
                <a:lnTo>
                  <a:pt x="0" y="0"/>
                </a:lnTo>
                <a:close/>
              </a:path>
            </a:pathLst>
          </a:custGeom>
          <a:blipFill>
            <a:blip r:embed="rId6"/>
            <a:stretch>
              <a:fillRect l="-26880" t="0" r="-28864" b="0"/>
            </a:stretch>
          </a:blipFill>
        </p:spPr>
      </p:sp>
      <p:sp>
        <p:nvSpPr>
          <p:cNvPr name="TextBox 17" id="17"/>
          <p:cNvSpPr txBox="true"/>
          <p:nvPr/>
        </p:nvSpPr>
        <p:spPr>
          <a:xfrm rot="0">
            <a:off x="2093691" y="1900340"/>
            <a:ext cx="14187198" cy="613601"/>
          </a:xfrm>
          <a:prstGeom prst="rect">
            <a:avLst/>
          </a:prstGeom>
        </p:spPr>
        <p:txBody>
          <a:bodyPr anchor="t" rtlCol="false" tIns="0" lIns="0" bIns="0" rIns="0">
            <a:spAutoFit/>
          </a:bodyPr>
          <a:lstStyle/>
          <a:p>
            <a:pPr algn="l">
              <a:lnSpc>
                <a:spcPts val="5029"/>
              </a:lnSpc>
            </a:pPr>
            <a:r>
              <a:rPr lang="en-US" sz="3592" b="true">
                <a:solidFill>
                  <a:srgbClr val="004AAD"/>
                </a:solidFill>
                <a:latin typeface="Century Gothic Paneuropean Bold"/>
                <a:ea typeface="Century Gothic Paneuropean Bold"/>
                <a:cs typeface="Century Gothic Paneuropean Bold"/>
                <a:sym typeface="Century Gothic Paneuropean Bold"/>
              </a:rPr>
              <a:t>5. MOBILE APP TESTING (APPIUM + NODE.JS + ANDROID STUDIO)</a:t>
            </a:r>
          </a:p>
        </p:txBody>
      </p:sp>
      <p:sp>
        <p:nvSpPr>
          <p:cNvPr name="TextBox 18" id="18"/>
          <p:cNvSpPr txBox="true"/>
          <p:nvPr/>
        </p:nvSpPr>
        <p:spPr>
          <a:xfrm rot="0">
            <a:off x="9428258" y="5423612"/>
            <a:ext cx="7093599" cy="3564283"/>
          </a:xfrm>
          <a:prstGeom prst="rect">
            <a:avLst/>
          </a:prstGeom>
        </p:spPr>
        <p:txBody>
          <a:bodyPr anchor="t" rtlCol="false" tIns="0" lIns="0" bIns="0" rIns="0">
            <a:spAutoFit/>
          </a:bodyPr>
          <a:lstStyle/>
          <a:p>
            <a:pPr algn="l">
              <a:lnSpc>
                <a:spcPts val="3568"/>
              </a:lnSpc>
              <a:spcBef>
                <a:spcPct val="0"/>
              </a:spcBef>
            </a:pPr>
            <a:r>
              <a:rPr lang="en-US" b="true" sz="2548">
                <a:solidFill>
                  <a:srgbClr val="000000"/>
                </a:solidFill>
                <a:latin typeface="Open Sans Bold"/>
                <a:ea typeface="Open Sans Bold"/>
                <a:cs typeface="Open Sans Bold"/>
                <a:sym typeface="Open Sans Bold"/>
              </a:rPr>
              <a:t>T</a:t>
            </a:r>
            <a:r>
              <a:rPr lang="en-US" b="true" sz="2548">
                <a:solidFill>
                  <a:srgbClr val="000000"/>
                </a:solidFill>
                <a:latin typeface="Open Sans Bold"/>
                <a:ea typeface="Open Sans Bold"/>
                <a:cs typeface="Open Sans Bold"/>
                <a:sym typeface="Open Sans Bold"/>
              </a:rPr>
              <a:t>est Data From Excel</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Product name read dynamically</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Supports multiple test inputs</a:t>
            </a:r>
          </a:p>
          <a:p>
            <a:pPr algn="l">
              <a:lnSpc>
                <a:spcPts val="3568"/>
              </a:lnSpc>
              <a:spcBef>
                <a:spcPct val="0"/>
              </a:spcBef>
            </a:pPr>
            <a:r>
              <a:rPr lang="en-US" b="true" sz="2548">
                <a:solidFill>
                  <a:srgbClr val="000000"/>
                </a:solidFill>
                <a:latin typeface="Open Sans Bold"/>
                <a:ea typeface="Open Sans Bold"/>
                <a:cs typeface="Open Sans Bold"/>
                <a:sym typeface="Open Sans Bold"/>
              </a:rPr>
              <a:t>Allure Reporting</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Step-by-step logs</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Screenshots</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Filter actions</a:t>
            </a:r>
          </a:p>
          <a:p>
            <a:pPr algn="l" marL="550304" indent="-275152" lvl="1">
              <a:lnSpc>
                <a:spcPts val="3568"/>
              </a:lnSpc>
              <a:buFont typeface="Arial"/>
              <a:buChar char="•"/>
            </a:pPr>
            <a:r>
              <a:rPr lang="en-US" sz="2548">
                <a:solidFill>
                  <a:srgbClr val="000000"/>
                </a:solidFill>
                <a:latin typeface="Open Sans"/>
                <a:ea typeface="Open Sans"/>
                <a:cs typeface="Open Sans"/>
                <a:sym typeface="Open Sans"/>
              </a:rPr>
              <a:t>Test status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817128" y="1731376"/>
            <a:ext cx="9719966" cy="7945871"/>
          </a:xfrm>
          <a:custGeom>
            <a:avLst/>
            <a:gdLst/>
            <a:ahLst/>
            <a:cxnLst/>
            <a:rect r="r" b="b" t="t" l="l"/>
            <a:pathLst>
              <a:path h="7945871" w="9719966">
                <a:moveTo>
                  <a:pt x="0" y="0"/>
                </a:moveTo>
                <a:lnTo>
                  <a:pt x="9719966" y="0"/>
                </a:lnTo>
                <a:lnTo>
                  <a:pt x="9719966" y="7945871"/>
                </a:lnTo>
                <a:lnTo>
                  <a:pt x="0" y="7945871"/>
                </a:lnTo>
                <a:lnTo>
                  <a:pt x="0" y="0"/>
                </a:lnTo>
                <a:close/>
              </a:path>
            </a:pathLst>
          </a:custGeom>
          <a:blipFill>
            <a:blip r:embed="rId4"/>
            <a:stretch>
              <a:fillRect l="0" t="-8208" r="-1024" b="-3940"/>
            </a:stretch>
          </a:blipFill>
        </p:spPr>
      </p:sp>
      <p:sp>
        <p:nvSpPr>
          <p:cNvPr name="TextBox 14" id="14"/>
          <p:cNvSpPr txBox="true"/>
          <p:nvPr/>
        </p:nvSpPr>
        <p:spPr>
          <a:xfrm rot="0">
            <a:off x="4408522" y="336272"/>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TESTCASES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32124" y="1967015"/>
            <a:ext cx="8867926" cy="4268228"/>
          </a:xfrm>
          <a:custGeom>
            <a:avLst/>
            <a:gdLst/>
            <a:ahLst/>
            <a:cxnLst/>
            <a:rect r="r" b="b" t="t" l="l"/>
            <a:pathLst>
              <a:path h="4268228" w="8867926">
                <a:moveTo>
                  <a:pt x="0" y="0"/>
                </a:moveTo>
                <a:lnTo>
                  <a:pt x="8867927" y="0"/>
                </a:lnTo>
                <a:lnTo>
                  <a:pt x="8867927" y="4268227"/>
                </a:lnTo>
                <a:lnTo>
                  <a:pt x="0" y="4268227"/>
                </a:lnTo>
                <a:lnTo>
                  <a:pt x="0" y="0"/>
                </a:lnTo>
                <a:close/>
              </a:path>
            </a:pathLst>
          </a:custGeom>
          <a:blipFill>
            <a:blip r:embed="rId4"/>
            <a:stretch>
              <a:fillRect l="0" t="-11602" r="0" b="-4746"/>
            </a:stretch>
          </a:blipFill>
        </p:spPr>
      </p:sp>
      <p:sp>
        <p:nvSpPr>
          <p:cNvPr name="TextBox 14" id="14"/>
          <p:cNvSpPr txBox="true"/>
          <p:nvPr/>
        </p:nvSpPr>
        <p:spPr>
          <a:xfrm rot="0">
            <a:off x="4875411" y="571911"/>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CONCLUSION</a:t>
            </a:r>
          </a:p>
        </p:txBody>
      </p:sp>
      <p:sp>
        <p:nvSpPr>
          <p:cNvPr name="TextBox 15" id="15"/>
          <p:cNvSpPr txBox="true"/>
          <p:nvPr/>
        </p:nvSpPr>
        <p:spPr>
          <a:xfrm rot="0">
            <a:off x="488343" y="6986937"/>
            <a:ext cx="17052323" cy="2268399"/>
          </a:xfrm>
          <a:prstGeom prst="rect">
            <a:avLst/>
          </a:prstGeom>
        </p:spPr>
        <p:txBody>
          <a:bodyPr anchor="t" rtlCol="false" tIns="0" lIns="0" bIns="0" rIns="0">
            <a:spAutoFit/>
          </a:bodyPr>
          <a:lstStyle/>
          <a:p>
            <a:pPr algn="just">
              <a:lnSpc>
                <a:spcPts val="3070"/>
              </a:lnSpc>
              <a:spcBef>
                <a:spcPct val="0"/>
              </a:spcBef>
            </a:pPr>
            <a:r>
              <a:rPr lang="en-US" sz="2192">
                <a:solidFill>
                  <a:srgbClr val="004AAD"/>
                </a:solidFill>
                <a:latin typeface="Open Sans"/>
                <a:ea typeface="Open Sans"/>
                <a:cs typeface="Open Sans"/>
                <a:sym typeface="Open Sans"/>
              </a:rPr>
              <a:t>We successfully completed all five parts of the capstone project—Jira, Python, SQL, Selenium, and Appium—showing complete end-to-end testing and development skills. Jira was used to design organized epics, stories, and test cases. Python was used to build a banking application with OOP concepts, while SQL handled all backend CRUD operations and reporting. Selenium automated key web flows on the HP Store website using POM and data-driven testing. Appium automated the Flipkart Android app, covering onboarding, search, filters, and product validation with screenshots and Allure reports. Overall, the project demonstrates strong practical experience in manual, web, mobile, and backend testing.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733281" y="233947"/>
            <a:ext cx="4985661" cy="1888319"/>
          </a:xfrm>
          <a:custGeom>
            <a:avLst/>
            <a:gdLst/>
            <a:ahLst/>
            <a:cxnLst/>
            <a:rect r="r" b="b" t="t" l="l"/>
            <a:pathLst>
              <a:path h="1888319" w="4985661">
                <a:moveTo>
                  <a:pt x="0" y="0"/>
                </a:moveTo>
                <a:lnTo>
                  <a:pt x="4985662" y="0"/>
                </a:lnTo>
                <a:lnTo>
                  <a:pt x="4985662" y="1888319"/>
                </a:lnTo>
                <a:lnTo>
                  <a:pt x="0" y="1888319"/>
                </a:lnTo>
                <a:lnTo>
                  <a:pt x="0" y="0"/>
                </a:lnTo>
                <a:close/>
              </a:path>
            </a:pathLst>
          </a:custGeom>
          <a:blipFill>
            <a:blip r:embed="rId4"/>
            <a:stretch>
              <a:fillRect l="0" t="0" r="0" b="0"/>
            </a:stretch>
          </a:blipFill>
        </p:spPr>
      </p:sp>
      <p:sp>
        <p:nvSpPr>
          <p:cNvPr name="TextBox 14" id="14"/>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Century Gothic Paneuropean Bold"/>
                <a:ea typeface="Century Gothic Paneuropean Bold"/>
                <a:cs typeface="Century Gothic Paneuropean Bold"/>
                <a:sym typeface="Century Gothic Paneurope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DAG41gcOHQk</dc:identifier>
  <dcterms:modified xsi:type="dcterms:W3CDTF">2011-08-01T06:04:30Z</dcterms:modified>
  <cp:revision>1</cp:revision>
  <dc:title>Black Yellow Modern Minimalist Elegant Presentation</dc:title>
</cp:coreProperties>
</file>